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Target State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One governed, fully-agentic pentesting environment · worker VMs at scale · CyberOps authors &amp; steers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22191" y="1298448"/>
            <a:ext cx="5623560" cy="3977639"/>
          </a:xfrm>
          <a:prstGeom prst="roundRect">
            <a:avLst/>
          </a:prstGeom>
          <a:solidFill>
            <a:srgbClr val="F7F8FC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95344" y="132588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E2761"/>
                </a:solidFill>
                <a:latin typeface="Calibri"/>
              </a:rPr>
              <a:t>AEGIS — the agentic pentesting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591056"/>
            <a:ext cx="1371600" cy="2788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62763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591056"/>
            <a:ext cx="1170432" cy="27889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1627632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591056"/>
            <a:ext cx="1417320" cy="278892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3" y="1627632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591056"/>
            <a:ext cx="3931920" cy="1840687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627632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3543300"/>
            <a:ext cx="3931920" cy="836675"/>
          </a:xfrm>
          <a:prstGeom prst="rect">
            <a:avLst/>
          </a:prstGeom>
          <a:solidFill>
            <a:srgbClr val="F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95544" y="3579876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591056"/>
            <a:ext cx="1371600" cy="278892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162763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10241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10058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Channels / Triggers</a:t>
            </a:r>
          </a:p>
        </p:txBody>
      </p:sp>
      <p:sp>
        <p:nvSpPr>
          <p:cNvPr id="23" name="Oval 22"/>
          <p:cNvSpPr/>
          <p:nvPr/>
        </p:nvSpPr>
        <p:spPr>
          <a:xfrm>
            <a:off x="246888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10241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10058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Request Intake</a:t>
            </a:r>
          </a:p>
        </p:txBody>
      </p:sp>
      <p:sp>
        <p:nvSpPr>
          <p:cNvPr id="26" name="Oval 25"/>
          <p:cNvSpPr/>
          <p:nvPr/>
        </p:nvSpPr>
        <p:spPr>
          <a:xfrm>
            <a:off x="393192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10241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100584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Governance &amp;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005840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4.  Agentic workers — VMs at scale</a:t>
            </a:r>
          </a:p>
        </p:txBody>
      </p:sp>
      <p:sp>
        <p:nvSpPr>
          <p:cNvPr id="30" name="Oval 29"/>
          <p:cNvSpPr/>
          <p:nvPr/>
        </p:nvSpPr>
        <p:spPr>
          <a:xfrm>
            <a:off x="950976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10241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100584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Outbound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9848" y="1664208"/>
            <a:ext cx="12435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1016" y="168249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VINES — headless</a:t>
            </a:r>
          </a:p>
        </p:txBody>
      </p:sp>
      <p:sp>
        <p:nvSpPr>
          <p:cNvPr id="35" name="Oval 34"/>
          <p:cNvSpPr/>
          <p:nvPr/>
        </p:nvSpPr>
        <p:spPr>
          <a:xfrm>
            <a:off x="1097280" y="177393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61288" y="183794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entagon 36"/>
          <p:cNvSpPr/>
          <p:nvPr/>
        </p:nvSpPr>
        <p:spPr>
          <a:xfrm>
            <a:off x="2084831" y="1719072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84831" y="171907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2F8F5B"/>
                </a:solidFill>
                <a:latin typeface="Calibri"/>
              </a:rPr>
              <a:t>~ /mo [TBD]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9848" y="2157984"/>
            <a:ext cx="12435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71016" y="217627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BB → Artifactory</a:t>
            </a:r>
          </a:p>
        </p:txBody>
      </p:sp>
      <p:sp>
        <p:nvSpPr>
          <p:cNvPr id="41" name="Oval 40"/>
          <p:cNvSpPr/>
          <p:nvPr/>
        </p:nvSpPr>
        <p:spPr>
          <a:xfrm>
            <a:off x="1097280" y="226771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61288" y="23317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entagon 42"/>
          <p:cNvSpPr/>
          <p:nvPr/>
        </p:nvSpPr>
        <p:spPr>
          <a:xfrm>
            <a:off x="2084831" y="2212848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84831" y="2212848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2F8F5B"/>
                </a:solidFill>
                <a:latin typeface="Calibri"/>
              </a:rPr>
              <a:t>~ /day [TBD]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9848" y="2651760"/>
            <a:ext cx="12435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71016" y="2670048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Pentester / VDI</a:t>
            </a:r>
          </a:p>
        </p:txBody>
      </p:sp>
      <p:sp>
        <p:nvSpPr>
          <p:cNvPr id="47" name="Oval 46"/>
          <p:cNvSpPr/>
          <p:nvPr/>
        </p:nvSpPr>
        <p:spPr>
          <a:xfrm>
            <a:off x="1133856" y="275234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97280" y="2852928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entagon 48"/>
          <p:cNvSpPr/>
          <p:nvPr/>
        </p:nvSpPr>
        <p:spPr>
          <a:xfrm>
            <a:off x="2084831" y="2706624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84831" y="2706624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2F8F5B"/>
                </a:solidFill>
                <a:latin typeface="Calibri"/>
              </a:rPr>
              <a:t>~ live [TBD]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9848" y="3145536"/>
            <a:ext cx="12435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71016" y="3163824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SSO / ADFS</a:t>
            </a:r>
          </a:p>
        </p:txBody>
      </p:sp>
      <p:sp>
        <p:nvSpPr>
          <p:cNvPr id="53" name="Oval 52"/>
          <p:cNvSpPr/>
          <p:nvPr/>
        </p:nvSpPr>
        <p:spPr>
          <a:xfrm>
            <a:off x="1097280" y="325526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61288" y="33192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39959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1">
                <a:solidFill>
                  <a:srgbClr val="1B2735"/>
                </a:solidFill>
                <a:latin typeface="Calibri"/>
              </a:rPr>
              <a:t>External:
VM Ops · CyberOps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23744" y="1700784"/>
            <a:ext cx="106070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24912" y="1719072"/>
            <a:ext cx="8229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Receive request</a:t>
            </a:r>
          </a:p>
        </p:txBody>
      </p:sp>
      <p:sp>
        <p:nvSpPr>
          <p:cNvPr id="58" name="Oval 57"/>
          <p:cNvSpPr/>
          <p:nvPr/>
        </p:nvSpPr>
        <p:spPr>
          <a:xfrm>
            <a:off x="2551175" y="1828799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15183" y="189280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23744" y="2212848"/>
            <a:ext cx="106070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24912" y="2231136"/>
            <a:ext cx="8229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Read &amp; sort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51175" y="234086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51175" y="234086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23744" y="2724912"/>
            <a:ext cx="106070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24912" y="2743200"/>
            <a:ext cx="8229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Create case &amp; index</a:t>
            </a:r>
          </a:p>
        </p:txBody>
      </p:sp>
      <p:sp>
        <p:nvSpPr>
          <p:cNvPr id="66" name="Oval 65"/>
          <p:cNvSpPr/>
          <p:nvPr/>
        </p:nvSpPr>
        <p:spPr>
          <a:xfrm>
            <a:off x="2551175" y="285292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615183" y="291693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986784" y="1682496"/>
            <a:ext cx="1307592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87952" y="1700784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1" i="0">
                <a:solidFill>
                  <a:srgbClr val="1B2735"/>
                </a:solidFill>
                <a:latin typeface="Calibri"/>
              </a:rPr>
              <a:t>Make the plan (what to test)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14216" y="1783080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14216" y="178308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4" y="2103120"/>
            <a:ext cx="130759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E2761"/>
                </a:solidFill>
                <a:latin typeface="Calibri"/>
              </a:rPr>
              <a:t>Governance controls — enforced on EVERY action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986784" y="2258568"/>
            <a:ext cx="13075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87952" y="2276856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Bind RoE &amp; scope</a:t>
            </a:r>
          </a:p>
        </p:txBody>
      </p:sp>
      <p:sp>
        <p:nvSpPr>
          <p:cNvPr id="75" name="Oval 74"/>
          <p:cNvSpPr/>
          <p:nvPr/>
        </p:nvSpPr>
        <p:spPr>
          <a:xfrm>
            <a:off x="4014216" y="232257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078224" y="238658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986784" y="2587751"/>
            <a:ext cx="13075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87952" y="2606039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Authorize per action</a:t>
            </a:r>
          </a:p>
        </p:txBody>
      </p:sp>
      <p:sp>
        <p:nvSpPr>
          <p:cNvPr id="79" name="Oval 78"/>
          <p:cNvSpPr/>
          <p:nvPr/>
        </p:nvSpPr>
        <p:spPr>
          <a:xfrm>
            <a:off x="4014216" y="265176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078224" y="27157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986784" y="2916935"/>
            <a:ext cx="13075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87952" y="2935223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Class → allow/block/appr.</a:t>
            </a:r>
          </a:p>
        </p:txBody>
      </p:sp>
      <p:sp>
        <p:nvSpPr>
          <p:cNvPr id="83" name="Oval 82"/>
          <p:cNvSpPr/>
          <p:nvPr/>
        </p:nvSpPr>
        <p:spPr>
          <a:xfrm>
            <a:off x="4014216" y="298094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078224" y="304495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986784" y="3246120"/>
            <a:ext cx="13075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87952" y="3264408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Egress scope + rate</a:t>
            </a:r>
          </a:p>
        </p:txBody>
      </p:sp>
      <p:sp>
        <p:nvSpPr>
          <p:cNvPr id="87" name="Oval 86"/>
          <p:cNvSpPr/>
          <p:nvPr/>
        </p:nvSpPr>
        <p:spPr>
          <a:xfrm>
            <a:off x="4014216" y="331012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78224" y="337413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986784" y="3575303"/>
            <a:ext cx="130759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87952" y="3593591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Lease · fail-closed · kill</a:t>
            </a:r>
          </a:p>
        </p:txBody>
      </p:sp>
      <p:sp>
        <p:nvSpPr>
          <p:cNvPr id="91" name="Oval 90"/>
          <p:cNvSpPr/>
          <p:nvPr/>
        </p:nvSpPr>
        <p:spPr>
          <a:xfrm>
            <a:off x="4014216" y="3639311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78224" y="37033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486400" y="1664208"/>
            <a:ext cx="1252728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32120" y="1682496"/>
            <a:ext cx="11612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1" i="0">
                <a:solidFill>
                  <a:srgbClr val="1E2761"/>
                </a:solidFill>
                <a:latin typeface="Calibri"/>
              </a:rPr>
              <a:t>AGENTS (reason)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532120" y="1856231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33288" y="1874519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Explore the target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559552" y="1920240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59552" y="192024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532120" y="2194560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33288" y="2212848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Find weak spots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59552" y="2258568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59552" y="225856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532120" y="2532887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733288" y="2551175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Plan attack path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559552" y="2596896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559552" y="259689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532120" y="2871215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33288" y="2889503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Capture proof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559552" y="293522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59552" y="29352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812280" y="1664208"/>
            <a:ext cx="1252728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F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58000" y="1682496"/>
            <a:ext cx="116128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1" i="0">
                <a:solidFill>
                  <a:srgbClr val="2F8F5B"/>
                </a:solidFill>
                <a:latin typeface="Calibri"/>
              </a:rPr>
              <a:t>AGENTIC TOOLS (act)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858000" y="1856231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59168" y="1874519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Send web requests</a:t>
            </a:r>
          </a:p>
        </p:txBody>
      </p:sp>
      <p:sp>
        <p:nvSpPr>
          <p:cNvPr id="115" name="Oval 114"/>
          <p:cNvSpPr/>
          <p:nvPr/>
        </p:nvSpPr>
        <p:spPr>
          <a:xfrm>
            <a:off x="6885432" y="192024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949440" y="19842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6858000" y="2194560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59168" y="2212848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Test logins/access</a:t>
            </a:r>
          </a:p>
        </p:txBody>
      </p:sp>
      <p:sp>
        <p:nvSpPr>
          <p:cNvPr id="119" name="Oval 118"/>
          <p:cNvSpPr/>
          <p:nvPr/>
        </p:nvSpPr>
        <p:spPr>
          <a:xfrm>
            <a:off x="6885432" y="225856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949440" y="23225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6858000" y="2532887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059168" y="2551175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Probe inputs safely</a:t>
            </a:r>
          </a:p>
        </p:txBody>
      </p:sp>
      <p:sp>
        <p:nvSpPr>
          <p:cNvPr id="123" name="Oval 122"/>
          <p:cNvSpPr/>
          <p:nvPr/>
        </p:nvSpPr>
        <p:spPr>
          <a:xfrm>
            <a:off x="6885432" y="259689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949440" y="266090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6858000" y="2871215"/>
            <a:ext cx="116128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59168" y="2889503"/>
            <a:ext cx="9235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Read-only checks</a:t>
            </a:r>
          </a:p>
        </p:txBody>
      </p:sp>
      <p:sp>
        <p:nvSpPr>
          <p:cNvPr id="127" name="Oval 126"/>
          <p:cNvSpPr/>
          <p:nvPr/>
        </p:nvSpPr>
        <p:spPr>
          <a:xfrm>
            <a:off x="6885432" y="293522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949440" y="29992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138160" y="1664208"/>
            <a:ext cx="1188720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79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183880" y="16824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1" i="0">
                <a:solidFill>
                  <a:srgbClr val="B7791F"/>
                </a:solidFill>
                <a:latin typeface="Calibri"/>
              </a:rPr>
              <a:t>ORCHESTRATION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183879" y="1856231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85048" y="1874519"/>
            <a:ext cx="8595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Iterate the loop</a:t>
            </a:r>
          </a:p>
        </p:txBody>
      </p:sp>
      <p:sp>
        <p:nvSpPr>
          <p:cNvPr id="133" name="Oval 132"/>
          <p:cNvSpPr/>
          <p:nvPr/>
        </p:nvSpPr>
        <p:spPr>
          <a:xfrm>
            <a:off x="8211311" y="192024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275319" y="19842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8183879" y="21945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385048" y="2212848"/>
            <a:ext cx="8595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Many worker VMs (scale)</a:t>
            </a:r>
          </a:p>
        </p:txBody>
      </p:sp>
      <p:sp>
        <p:nvSpPr>
          <p:cNvPr id="137" name="Oval 136"/>
          <p:cNvSpPr/>
          <p:nvPr/>
        </p:nvSpPr>
        <p:spPr>
          <a:xfrm>
            <a:off x="8211311" y="225856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275319" y="23225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8183879" y="2532887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85048" y="2551175"/>
            <a:ext cx="8595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One exit door</a:t>
            </a:r>
          </a:p>
        </p:txBody>
      </p:sp>
      <p:sp>
        <p:nvSpPr>
          <p:cNvPr id="141" name="Oval 140"/>
          <p:cNvSpPr/>
          <p:nvPr/>
        </p:nvSpPr>
        <p:spPr>
          <a:xfrm>
            <a:off x="8211311" y="259689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275319" y="266090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8183879" y="2871215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385048" y="2889503"/>
            <a:ext cx="8595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Start &amp; clean up</a:t>
            </a:r>
          </a:p>
        </p:txBody>
      </p:sp>
      <p:sp>
        <p:nvSpPr>
          <p:cNvPr id="145" name="Oval 144"/>
          <p:cNvSpPr/>
          <p:nvPr/>
        </p:nvSpPr>
        <p:spPr>
          <a:xfrm>
            <a:off x="8211311" y="293522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275319" y="29992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486400" y="3328415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1">
                <a:solidFill>
                  <a:srgbClr val="B7791F"/>
                </a:solidFill>
                <a:latin typeface="Calibri"/>
              </a:rPr>
              <a:t>iterate: plan → act → observe → reflect → repeat until finding or budget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32120" y="355244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 i="0">
                <a:solidFill>
                  <a:srgbClr val="1B2735"/>
                </a:solidFill>
                <a:latin typeface="Calibri"/>
              </a:rPr>
              <a:t>Audit &amp; Quality — Validator (re-proves everything)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532120" y="3726180"/>
            <a:ext cx="9052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33288" y="3744468"/>
            <a:ext cx="667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1B2735"/>
                </a:solidFill>
                <a:latin typeface="Calibri"/>
              </a:rPr>
              <a:t>Re-prove finding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559552" y="3835908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559552" y="383590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492240" y="3726180"/>
            <a:ext cx="9052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93407" y="3744468"/>
            <a:ext cx="667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1B2735"/>
                </a:solidFill>
                <a:latin typeface="Calibri"/>
              </a:rPr>
              <a:t>Confidence level</a:t>
            </a:r>
          </a:p>
        </p:txBody>
      </p:sp>
      <p:sp>
        <p:nvSpPr>
          <p:cNvPr id="155" name="Oval 154"/>
          <p:cNvSpPr/>
          <p:nvPr/>
        </p:nvSpPr>
        <p:spPr>
          <a:xfrm>
            <a:off x="6519672" y="38359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583680" y="38999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7452360" y="3726180"/>
            <a:ext cx="9052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653528" y="3744468"/>
            <a:ext cx="667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1B2735"/>
                </a:solidFill>
                <a:latin typeface="Calibri"/>
              </a:rPr>
              <a:t>Policy check</a:t>
            </a:r>
          </a:p>
        </p:txBody>
      </p:sp>
      <p:sp>
        <p:nvSpPr>
          <p:cNvPr id="159" name="Oval 158"/>
          <p:cNvSpPr/>
          <p:nvPr/>
        </p:nvSpPr>
        <p:spPr>
          <a:xfrm>
            <a:off x="7479792" y="38359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543800" y="38999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8412480" y="3726180"/>
            <a:ext cx="9052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613648" y="3744468"/>
            <a:ext cx="667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1B2735"/>
                </a:solidFill>
                <a:latin typeface="Calibri"/>
              </a:rPr>
              <a:t>Human sign-off</a:t>
            </a:r>
          </a:p>
        </p:txBody>
      </p:sp>
      <p:sp>
        <p:nvSpPr>
          <p:cNvPr id="163" name="Oval 162"/>
          <p:cNvSpPr/>
          <p:nvPr/>
        </p:nvSpPr>
        <p:spPr>
          <a:xfrm>
            <a:off x="8476487" y="382676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8439911" y="3927348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9564624" y="1682496"/>
            <a:ext cx="12161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765792" y="1700784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Exploitability result</a:t>
            </a:r>
          </a:p>
        </p:txBody>
      </p:sp>
      <p:sp>
        <p:nvSpPr>
          <p:cNvPr id="167" name="Oval 166"/>
          <p:cNvSpPr/>
          <p:nvPr/>
        </p:nvSpPr>
        <p:spPr>
          <a:xfrm>
            <a:off x="9592056" y="180136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656064" y="18653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9564624" y="2157984"/>
            <a:ext cx="12161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65792" y="2176272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Findings → Cosmos</a:t>
            </a:r>
          </a:p>
        </p:txBody>
      </p:sp>
      <p:sp>
        <p:nvSpPr>
          <p:cNvPr id="171" name="Oval 170"/>
          <p:cNvSpPr/>
          <p:nvPr/>
        </p:nvSpPr>
        <p:spPr>
          <a:xfrm>
            <a:off x="9592056" y="227685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656064" y="23408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564624" y="2633472"/>
            <a:ext cx="12161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765792" y="2651760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Evidence (write-once)</a:t>
            </a:r>
          </a:p>
        </p:txBody>
      </p:sp>
      <p:sp>
        <p:nvSpPr>
          <p:cNvPr id="175" name="Oval 174"/>
          <p:cNvSpPr/>
          <p:nvPr/>
        </p:nvSpPr>
        <p:spPr>
          <a:xfrm>
            <a:off x="9592056" y="275234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656064" y="281635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564624" y="3108960"/>
            <a:ext cx="12161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765792" y="3127248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Report</a:t>
            </a:r>
          </a:p>
        </p:txBody>
      </p:sp>
      <p:sp>
        <p:nvSpPr>
          <p:cNvPr id="179" name="Oval 178"/>
          <p:cNvSpPr/>
          <p:nvPr/>
        </p:nvSpPr>
        <p:spPr>
          <a:xfrm>
            <a:off x="9592056" y="322783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656064" y="329184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9564624" y="3584448"/>
            <a:ext cx="12161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765792" y="3602736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Run state → Postgres</a:t>
            </a:r>
          </a:p>
        </p:txBody>
      </p:sp>
      <p:sp>
        <p:nvSpPr>
          <p:cNvPr id="183" name="Oval 182"/>
          <p:cNvSpPr/>
          <p:nvPr/>
        </p:nvSpPr>
        <p:spPr>
          <a:xfrm>
            <a:off x="9592056" y="370332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9656064" y="376732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247120" y="1728216"/>
            <a:ext cx="329184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927080" y="1993392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1B2735"/>
                </a:solidFill>
                <a:latin typeface="Calibri"/>
              </a:rPr>
              <a:t>VM Risk
Score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247120" y="2688336"/>
            <a:ext cx="329184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927080" y="2953512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1B2735"/>
                </a:solidFill>
                <a:latin typeface="Calibri"/>
              </a:rPr>
              <a:t>CyberOps /
leadership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247120" y="3648456"/>
            <a:ext cx="329184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927080" y="3913632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1B2735"/>
                </a:solidFill>
                <a:latin typeface="Calibri"/>
              </a:rPr>
              <a:t>Cosmos /
Data lake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931920" y="4434840"/>
            <a:ext cx="5440680" cy="566928"/>
          </a:xfrm>
          <a:prstGeom prst="roundRect">
            <a:avLst/>
          </a:prstGeom>
          <a:solidFill>
            <a:srgbClr val="F3EEFC"/>
          </a:solidFill>
          <a:ln w="17780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059936" y="448970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4023360" y="4590288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279392" y="445312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  <a:latin typeface="Calibri"/>
              </a:rPr>
              <a:t>CyberOps — interactive (in parallel)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943600" y="4636008"/>
            <a:ext cx="16002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144768" y="4654296"/>
            <a:ext cx="13624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Author execution instructions</a:t>
            </a:r>
          </a:p>
        </p:txBody>
      </p:sp>
      <p:sp>
        <p:nvSpPr>
          <p:cNvPr id="197" name="Oval 196"/>
          <p:cNvSpPr/>
          <p:nvPr/>
        </p:nvSpPr>
        <p:spPr>
          <a:xfrm>
            <a:off x="6007608" y="468172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5971032" y="4782312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ight Arrow 198"/>
          <p:cNvSpPr/>
          <p:nvPr/>
        </p:nvSpPr>
        <p:spPr>
          <a:xfrm>
            <a:off x="7589520" y="4709160"/>
            <a:ext cx="201168" cy="12801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7818120" y="4636008"/>
            <a:ext cx="150876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019288" y="4654296"/>
            <a:ext cx="12710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0" i="0">
                <a:solidFill>
                  <a:srgbClr val="1B2735"/>
                </a:solidFill>
                <a:latin typeface="Calibri"/>
              </a:rPr>
              <a:t>→ Planning → SAME governance</a:t>
            </a:r>
          </a:p>
        </p:txBody>
      </p:sp>
      <p:sp>
        <p:nvSpPr>
          <p:cNvPr id="202" name="Oval 201"/>
          <p:cNvSpPr/>
          <p:nvPr/>
        </p:nvSpPr>
        <p:spPr>
          <a:xfrm>
            <a:off x="7845552" y="469087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909560" y="475488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023360" y="476402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 i="1">
                <a:solidFill>
                  <a:srgbClr val="7C3AED"/>
                </a:solidFill>
                <a:latin typeface="Calibri"/>
              </a:rPr>
              <a:t>Instructions pass through the SAME governance walls — no bypass.</a:t>
            </a:r>
          </a:p>
        </p:txBody>
      </p:sp>
      <p:sp>
        <p:nvSpPr>
          <p:cNvPr id="205" name="Right Arrow 204"/>
          <p:cNvSpPr/>
          <p:nvPr/>
        </p:nvSpPr>
        <p:spPr>
          <a:xfrm>
            <a:off x="2313432" y="2231136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ight Arrow 205"/>
          <p:cNvSpPr/>
          <p:nvPr/>
        </p:nvSpPr>
        <p:spPr>
          <a:xfrm>
            <a:off x="3611880" y="2231136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ight Arrow 206"/>
          <p:cNvSpPr/>
          <p:nvPr/>
        </p:nvSpPr>
        <p:spPr>
          <a:xfrm>
            <a:off x="5120640" y="2231136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ight Arrow 207"/>
          <p:cNvSpPr/>
          <p:nvPr/>
        </p:nvSpPr>
        <p:spPr>
          <a:xfrm>
            <a:off x="9345168" y="2231136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05840" y="530352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5A6B7D"/>
                </a:solidFill>
                <a:latin typeface="Calibri"/>
              </a:rPr>
              <a:t>Feedback · Sampling · Model Learning  (humans improve models; A/B champion-challenger before promotion)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05840" y="5486400"/>
            <a:ext cx="1335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207008" y="5504688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Train the models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033272" y="563270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33272" y="56327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423160" y="5486400"/>
            <a:ext cx="1335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624328" y="5504688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Tune planning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2450592" y="563270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450592" y="56327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840480" y="5486400"/>
            <a:ext cx="1335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041648" y="5504688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Tune the validator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867912" y="563270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867912" y="56327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5257800" y="5486400"/>
            <a:ext cx="1335024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458968" y="5504688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1B2735"/>
                </a:solidFill>
                <a:latin typeface="Calibri"/>
              </a:rPr>
              <a:t>A/B model test
champion vs challenger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5285232" y="563270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285232" y="56327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6675120" y="5486400"/>
            <a:ext cx="1335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876288" y="5504688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Manual review
(when required)</a:t>
            </a:r>
          </a:p>
        </p:txBody>
      </p:sp>
      <p:sp>
        <p:nvSpPr>
          <p:cNvPr id="228" name="Oval 227"/>
          <p:cNvSpPr/>
          <p:nvPr/>
        </p:nvSpPr>
        <p:spPr>
          <a:xfrm>
            <a:off x="6739128" y="56235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6702552" y="5724144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183879" y="546811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275320" y="550468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293608" y="5724144"/>
            <a:ext cx="182880" cy="1828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293608" y="572414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8513064" y="5705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Gen-AI model</a:t>
            </a:r>
          </a:p>
        </p:txBody>
      </p:sp>
      <p:sp>
        <p:nvSpPr>
          <p:cNvPr id="235" name="Oval 234"/>
          <p:cNvSpPr/>
          <p:nvPr/>
        </p:nvSpPr>
        <p:spPr>
          <a:xfrm>
            <a:off x="10122408" y="572414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186416" y="578815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341864" y="5705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New automation</a:t>
            </a:r>
          </a:p>
        </p:txBody>
      </p:sp>
      <p:sp>
        <p:nvSpPr>
          <p:cNvPr id="238" name="Oval 237"/>
          <p:cNvSpPr/>
          <p:nvPr/>
        </p:nvSpPr>
        <p:spPr>
          <a:xfrm>
            <a:off x="8339328" y="59801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8293608" y="6080760"/>
            <a:ext cx="182880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513064" y="5961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Engineering</a:t>
            </a:r>
          </a:p>
        </p:txBody>
      </p:sp>
      <p:sp>
        <p:nvSpPr>
          <p:cNvPr id="241" name="Oval 240"/>
          <p:cNvSpPr/>
          <p:nvPr/>
        </p:nvSpPr>
        <p:spPr>
          <a:xfrm>
            <a:off x="10158984" y="5980176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10122408" y="6080760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341864" y="5961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Manual task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293608" y="621792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10" b="0" i="1">
                <a:solidFill>
                  <a:srgbClr val="5A6B7D"/>
                </a:solidFill>
                <a:latin typeface="Calibri"/>
              </a:rPr>
              <a:t>CyberOps authoring &amp; live-parallel · navy border = AEGIS · green flag = volume [placeholder]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743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5A6B7D"/>
                </a:solidFill>
                <a:latin typeface="Calibri"/>
              </a:rPr>
              <a:t>Actions /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804672"/>
            <a:ext cx="1325880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841248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Channels /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804672"/>
            <a:ext cx="1234440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84124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Upstream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804672"/>
            <a:ext cx="1463040" cy="384048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3" y="84124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Request Intake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804672"/>
            <a:ext cx="1234440" cy="384048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3" y="84124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Request Execution Plan
(pre-determined)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804672"/>
            <a:ext cx="1554480" cy="384048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84124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Case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804672"/>
            <a:ext cx="1463040" cy="384048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84124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Outbound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804672"/>
            <a:ext cx="1828800" cy="384048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6104" y="841248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66370"/>
                </a:solidFill>
                <a:latin typeface="Calibri"/>
              </a:rPr>
              <a:t>LONG-TERM / FUTURE</a:t>
            </a:r>
          </a:p>
        </p:txBody>
      </p:sp>
      <p:sp>
        <p:nvSpPr>
          <p:cNvPr id="20" name="Oval 19"/>
          <p:cNvSpPr/>
          <p:nvPr/>
        </p:nvSpPr>
        <p:spPr>
          <a:xfrm>
            <a:off x="16002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53035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53035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89154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53035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5B4300"/>
                </a:solidFill>
                <a:latin typeface="Calibr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493776" y="214884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2249424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" y="2606040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1B2735"/>
                </a:solidFill>
                <a:latin typeface="Calibri"/>
              </a:rPr>
              <a:t>VM Ops &amp;
CyberOps
request a
pentest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1225296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12070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VINES
(VM Ops)</a:t>
            </a:r>
          </a:p>
        </p:txBody>
      </p:sp>
      <p:sp>
        <p:nvSpPr>
          <p:cNvPr id="33" name="Pentagon 32"/>
          <p:cNvSpPr/>
          <p:nvPr/>
        </p:nvSpPr>
        <p:spPr>
          <a:xfrm>
            <a:off x="1060704" y="1627632"/>
            <a:ext cx="548640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16276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F8F5B"/>
                </a:solidFill>
                <a:latin typeface="Calibri"/>
              </a:rPr>
              <a:t>~500/mo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1975104"/>
            <a:ext cx="31089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52728" y="2075688"/>
            <a:ext cx="91440" cy="914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17904" y="1956816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BB →
Artifactory</a:t>
            </a:r>
          </a:p>
        </p:txBody>
      </p:sp>
      <p:sp>
        <p:nvSpPr>
          <p:cNvPr id="38" name="Pentagon 37"/>
          <p:cNvSpPr/>
          <p:nvPr/>
        </p:nvSpPr>
        <p:spPr>
          <a:xfrm>
            <a:off x="1060704" y="2395728"/>
            <a:ext cx="548640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" y="239572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F8F5B"/>
                </a:solidFill>
                <a:latin typeface="Calibri"/>
              </a:rPr>
              <a:t>~N/day</a:t>
            </a:r>
          </a:p>
        </p:txBody>
      </p:sp>
      <p:sp>
        <p:nvSpPr>
          <p:cNvPr id="40" name="Oval 39"/>
          <p:cNvSpPr/>
          <p:nvPr/>
        </p:nvSpPr>
        <p:spPr>
          <a:xfrm>
            <a:off x="1207008" y="276148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70432" y="2862072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81328" y="274320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Pentester
via VDI</a:t>
            </a:r>
          </a:p>
        </p:txBody>
      </p:sp>
      <p:sp>
        <p:nvSpPr>
          <p:cNvPr id="43" name="Pentagon 42"/>
          <p:cNvSpPr/>
          <p:nvPr/>
        </p:nvSpPr>
        <p:spPr>
          <a:xfrm>
            <a:off x="1060704" y="3182112"/>
            <a:ext cx="548640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" y="31821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F8F5B"/>
                </a:solidFill>
                <a:latin typeface="Calibri"/>
              </a:rPr>
              <a:t>~K live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312" y="1188720"/>
            <a:ext cx="108813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15768" y="1207008"/>
            <a:ext cx="83210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Foundation (CTC)
headless request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96312" y="1938528"/>
            <a:ext cx="108813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1956816"/>
            <a:ext cx="83210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Portico → Kestra
scheduled sweep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96312" y="2743200"/>
            <a:ext cx="108813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5768" y="2761488"/>
            <a:ext cx="83210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SSO / ADFS
SID → FID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1115568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913632" y="1188720"/>
            <a:ext cx="113385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33088" y="1207008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Request intake
(contract)</a:t>
            </a:r>
          </a:p>
        </p:txBody>
      </p:sp>
      <p:sp>
        <p:nvSpPr>
          <p:cNvPr id="54" name="Oval 53"/>
          <p:cNvSpPr/>
          <p:nvPr/>
        </p:nvSpPr>
        <p:spPr>
          <a:xfrm>
            <a:off x="3941064" y="128016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005072" y="1344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913632" y="1627632"/>
            <a:ext cx="113385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33088" y="1645920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Case router
CVE/JVE → case</a:t>
            </a:r>
          </a:p>
        </p:txBody>
      </p:sp>
      <p:sp>
        <p:nvSpPr>
          <p:cNvPr id="58" name="Oval 57"/>
          <p:cNvSpPr/>
          <p:nvPr/>
        </p:nvSpPr>
        <p:spPr>
          <a:xfrm>
            <a:off x="3941064" y="171907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005072" y="178308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913632" y="2240280"/>
            <a:ext cx="113385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33088" y="2258568"/>
            <a:ext cx="8778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Interactive start
four-eyes approval</a:t>
            </a:r>
          </a:p>
        </p:txBody>
      </p:sp>
      <p:sp>
        <p:nvSpPr>
          <p:cNvPr id="62" name="Oval 61"/>
          <p:cNvSpPr/>
          <p:nvPr/>
        </p:nvSpPr>
        <p:spPr>
          <a:xfrm>
            <a:off x="3977640" y="234086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941064" y="2441448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67912" y="213055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831336" y="2231136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014216" y="2148840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14216" y="2148840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913632" y="2788920"/>
            <a:ext cx="113385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33088" y="2807208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RoE check
&amp; scope bind</a:t>
            </a:r>
          </a:p>
        </p:txBody>
      </p:sp>
      <p:sp>
        <p:nvSpPr>
          <p:cNvPr id="70" name="Oval 69"/>
          <p:cNvSpPr/>
          <p:nvPr/>
        </p:nvSpPr>
        <p:spPr>
          <a:xfrm>
            <a:off x="3941064" y="288036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005072" y="29443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394960" y="1691640"/>
            <a:ext cx="1051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14416" y="1709928"/>
            <a:ext cx="795527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Pre-defined
governance model
authorize · class · rate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720840" y="1188720"/>
            <a:ext cx="12801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0296" y="1207008"/>
            <a:ext cx="1024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Provision isolated
run (FID)</a:t>
            </a:r>
          </a:p>
        </p:txBody>
      </p:sp>
      <p:sp>
        <p:nvSpPr>
          <p:cNvPr id="76" name="Oval 75"/>
          <p:cNvSpPr/>
          <p:nvPr/>
        </p:nvSpPr>
        <p:spPr>
          <a:xfrm>
            <a:off x="6748272" y="129844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12280" y="136245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75120" y="169164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748272" y="1764792"/>
            <a:ext cx="12252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67728" y="1783080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Agent loop
plan·act·observe</a:t>
            </a:r>
          </a:p>
        </p:txBody>
      </p:sp>
      <p:sp>
        <p:nvSpPr>
          <p:cNvPr id="81" name="Oval 80"/>
          <p:cNvSpPr/>
          <p:nvPr/>
        </p:nvSpPr>
        <p:spPr>
          <a:xfrm>
            <a:off x="6775704" y="1856231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839712" y="192023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748272" y="2194560"/>
            <a:ext cx="1225296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67728" y="2212848"/>
            <a:ext cx="9692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Authorize every
action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748272" y="2615184"/>
            <a:ext cx="1225296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67728" y="2633472"/>
            <a:ext cx="969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Validator
re-prove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748272" y="3127248"/>
            <a:ext cx="122529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67728" y="3145536"/>
            <a:ext cx="9692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Interactive steering</a:t>
            </a:r>
          </a:p>
        </p:txBody>
      </p:sp>
      <p:sp>
        <p:nvSpPr>
          <p:cNvPr id="89" name="Oval 88"/>
          <p:cNvSpPr/>
          <p:nvPr/>
        </p:nvSpPr>
        <p:spPr>
          <a:xfrm>
            <a:off x="6812280" y="321868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775704" y="3319272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702552" y="301752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665976" y="3118103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48856" y="3035808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48856" y="3035808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748272" y="3602736"/>
            <a:ext cx="122529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67728" y="3621024"/>
            <a:ext cx="9692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Review &amp; sign-off</a:t>
            </a:r>
          </a:p>
        </p:txBody>
      </p:sp>
      <p:sp>
        <p:nvSpPr>
          <p:cNvPr id="97" name="Oval 96"/>
          <p:cNvSpPr/>
          <p:nvPr/>
        </p:nvSpPr>
        <p:spPr>
          <a:xfrm>
            <a:off x="6812280" y="3694176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775704" y="3794760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702552" y="349300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665976" y="3593591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848856" y="3511296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48856" y="3511296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339327" y="1188720"/>
            <a:ext cx="13258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58784" y="1207008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ExploitabilityResult</a:t>
            </a:r>
          </a:p>
        </p:txBody>
      </p:sp>
      <p:sp>
        <p:nvSpPr>
          <p:cNvPr id="105" name="Oval 104"/>
          <p:cNvSpPr/>
          <p:nvPr/>
        </p:nvSpPr>
        <p:spPr>
          <a:xfrm>
            <a:off x="8366759" y="129844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430767" y="136245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339327" y="1737360"/>
            <a:ext cx="13258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58784" y="1755648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Findings → Cosmos</a:t>
            </a:r>
          </a:p>
        </p:txBody>
      </p:sp>
      <p:sp>
        <p:nvSpPr>
          <p:cNvPr id="109" name="Oval 108"/>
          <p:cNvSpPr/>
          <p:nvPr/>
        </p:nvSpPr>
        <p:spPr>
          <a:xfrm>
            <a:off x="8366759" y="184708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430767" y="191109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339327" y="2286000"/>
            <a:ext cx="13258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58784" y="2304288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Evidence &amp; audit
(write-once)</a:t>
            </a:r>
          </a:p>
        </p:txBody>
      </p:sp>
      <p:sp>
        <p:nvSpPr>
          <p:cNvPr id="113" name="Oval 112"/>
          <p:cNvSpPr/>
          <p:nvPr/>
        </p:nvSpPr>
        <p:spPr>
          <a:xfrm>
            <a:off x="8366759" y="239572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430767" y="245973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339327" y="2834639"/>
            <a:ext cx="13258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58784" y="2852927"/>
            <a:ext cx="10698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Report</a:t>
            </a:r>
          </a:p>
        </p:txBody>
      </p:sp>
      <p:sp>
        <p:nvSpPr>
          <p:cNvPr id="117" name="Oval 116"/>
          <p:cNvSpPr/>
          <p:nvPr/>
        </p:nvSpPr>
        <p:spPr>
          <a:xfrm>
            <a:off x="8293607" y="27432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257031" y="2843784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439911" y="2761488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39911" y="2761488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012680" y="1188720"/>
            <a:ext cx="16459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232136" y="120700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Full network segmentation
(preferred fix)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012680" y="1645920"/>
            <a:ext cx="16459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232136" y="166420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Isolated TWIN
contingency if not segmented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012680" y="2103120"/>
            <a:ext cx="16459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232136" y="212140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Frontier models
plug-in to Bedrock Mantle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12680" y="2560320"/>
            <a:ext cx="16459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232136" y="257860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G34 / G35
authoring &amp; promotion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012680" y="3017520"/>
            <a:ext cx="16459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232136" y="303580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Plexus
power-user workflows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012680" y="3474720"/>
            <a:ext cx="16459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232136" y="349300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Response path →
Mobius / VM Risk Score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2331720" y="219456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ight Arrow 133"/>
          <p:cNvSpPr/>
          <p:nvPr/>
        </p:nvSpPr>
        <p:spPr>
          <a:xfrm>
            <a:off x="3657600" y="219456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ight Arrow 134"/>
          <p:cNvSpPr/>
          <p:nvPr/>
        </p:nvSpPr>
        <p:spPr>
          <a:xfrm>
            <a:off x="5138928" y="219456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ight Arrow 135"/>
          <p:cNvSpPr/>
          <p:nvPr/>
        </p:nvSpPr>
        <p:spPr>
          <a:xfrm>
            <a:off x="6464808" y="219456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ight Arrow 136"/>
          <p:cNvSpPr/>
          <p:nvPr/>
        </p:nvSpPr>
        <p:spPr>
          <a:xfrm>
            <a:off x="8065008" y="219456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ight Arrow 137"/>
          <p:cNvSpPr/>
          <p:nvPr/>
        </p:nvSpPr>
        <p:spPr>
          <a:xfrm>
            <a:off x="9710928" y="219456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74320" y="484632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65760" y="48920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02336" y="5138927"/>
            <a:ext cx="182880" cy="146304"/>
          </a:xfrm>
          <a:prstGeom prst="rect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05840" y="511149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Volumes</a:t>
            </a:r>
          </a:p>
        </p:txBody>
      </p:sp>
      <p:sp>
        <p:nvSpPr>
          <p:cNvPr id="143" name="Oval 142"/>
          <p:cNvSpPr/>
          <p:nvPr/>
        </p:nvSpPr>
        <p:spPr>
          <a:xfrm>
            <a:off x="475488" y="5394959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438912" y="5495544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05840" y="53675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Manual tasks</a:t>
            </a:r>
          </a:p>
        </p:txBody>
      </p:sp>
      <p:sp>
        <p:nvSpPr>
          <p:cNvPr id="146" name="Oval 145"/>
          <p:cNvSpPr/>
          <p:nvPr/>
        </p:nvSpPr>
        <p:spPr>
          <a:xfrm>
            <a:off x="411479" y="563270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75488" y="569671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05840" y="5623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Systematic tasks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02336" y="5907023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05840" y="587959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Long-term / future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43200" y="502920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Manual effort collapses to three control points — start approval, live steering, review &amp; sign-off.  Long-term items in the grey lane (not built now).  Volumes are placeholders.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Sources → Foundation → sandbox → targets →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024128"/>
            <a:ext cx="1417320" cy="370332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060704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Requesters /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024128"/>
            <a:ext cx="1508760" cy="370332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06070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Foundation (CTC)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024128"/>
            <a:ext cx="1828800" cy="37033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3" y="106070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AEGIS Sandbox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1554480" cy="370332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060704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Targets (RoE-bound)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024128"/>
            <a:ext cx="1600200" cy="370332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060704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Records &amp;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024128"/>
            <a:ext cx="2331720" cy="370332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3184" y="106070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66370"/>
                </a:solidFill>
                <a:latin typeface="Calibri"/>
              </a:rPr>
              <a:t>LONG-TERM / FUTURE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49834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1280160"/>
            <a:ext cx="1737360" cy="457200"/>
          </a:xfrm>
          <a:prstGeom prst="roundRect">
            <a:avLst/>
          </a:prstGeom>
          <a:solidFill>
            <a:srgbClr val="F3EE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1298448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21B6"/>
                </a:solidFill>
                <a:latin typeface="Calibri"/>
              </a:rPr>
              <a:t>VINES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VM Ops · flags vulns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1847088"/>
            <a:ext cx="1737360" cy="457200"/>
          </a:xfrm>
          <a:prstGeom prst="roundRect">
            <a:avLst/>
          </a:prstGeom>
          <a:solidFill>
            <a:srgbClr val="E5F6F6"/>
          </a:solidFill>
          <a:ln w="12700">
            <a:solidFill>
              <a:srgbClr val="0E8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186537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A5F66"/>
                </a:solidFill>
                <a:latin typeface="Calibri"/>
              </a:rPr>
              <a:t>BB → Artifactory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SDLC · new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2414016"/>
            <a:ext cx="1737360" cy="45720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432304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E40AF"/>
                </a:solidFill>
                <a:latin typeface="Calibri"/>
              </a:rPr>
              <a:t>Pentester / VDI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interactive · SID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2980944"/>
            <a:ext cx="1737360" cy="45720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99923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E40AF"/>
                </a:solidFill>
                <a:latin typeface="Calibri"/>
              </a:rPr>
              <a:t>CyberOps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authors &amp; steers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1280160"/>
            <a:ext cx="1325880" cy="54864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1298448"/>
            <a:ext cx="1234439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Foundation (CTC)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emits headless request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1920240"/>
            <a:ext cx="1325880" cy="45720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79" y="1938528"/>
            <a:ext cx="1234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Portico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events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51760" y="2468880"/>
            <a:ext cx="1325880" cy="45720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2487168"/>
            <a:ext cx="1234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Kestra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scheduler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51760" y="3017520"/>
            <a:ext cx="1325880" cy="457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79" y="3035808"/>
            <a:ext cx="1234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SSO / ADFS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SID → FID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9392" y="2011680"/>
            <a:ext cx="1600200" cy="109728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9392" y="2011680"/>
            <a:ext cx="1600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AEGIS SANDBOX</a:t>
            </a:r>
          </a:p>
          <a:p>
            <a:pPr algn="ctr"/>
            <a:r>
              <a:rPr sz="800" b="0" i="0">
                <a:solidFill>
                  <a:srgbClr val="CADCFC"/>
                </a:solidFill>
                <a:latin typeface="Calibri"/>
              </a:rPr>
              <a:t>governed agentic pentesting</a:t>
            </a:r>
          </a:p>
          <a:p>
            <a:pPr algn="ctr"/>
            <a:r>
              <a:rPr sz="750" b="0" i="0">
                <a:solidFill>
                  <a:srgbClr val="8FA3C8"/>
                </a:solidFill>
                <a:latin typeface="Calibri"/>
              </a:rPr>
              <a:t>headless (auto) · interactive (human)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371600"/>
            <a:ext cx="1371600" cy="365760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138988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A2020"/>
                </a:solidFill>
                <a:latin typeface="Calibri"/>
              </a:rPr>
              <a:t>dev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1792224"/>
            <a:ext cx="1371600" cy="365760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1810512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A2020"/>
                </a:solidFill>
                <a:latin typeface="Calibri"/>
              </a:rPr>
              <a:t>test / UAT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2212848"/>
            <a:ext cx="1371600" cy="365760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223113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A2020"/>
                </a:solidFill>
                <a:latin typeface="Calibri"/>
              </a:rPr>
              <a:t>prod — read-class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2697480"/>
            <a:ext cx="1371600" cy="658368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2715768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7A2020"/>
                </a:solidFill>
                <a:latin typeface="Calibri"/>
              </a:rPr>
              <a:t>dev/test/UAT share PROD's ONE network — near-term egress-gateway = interim control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1371600"/>
            <a:ext cx="1417320" cy="45720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1389888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Cosmos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evidence · audit · findings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18120" y="1901952"/>
            <a:ext cx="1417320" cy="45720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1920240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Foundation Postgres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run / lease / state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8120" y="2432304"/>
            <a:ext cx="1417320" cy="457200"/>
          </a:xfrm>
          <a:prstGeom prst="roundRect">
            <a:avLst/>
          </a:prstGeom>
          <a:solidFill>
            <a:srgbClr val="E7EDF3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2450592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Bedrock Mantle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standard models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2962656"/>
            <a:ext cx="1417320" cy="457200"/>
          </a:xfrm>
          <a:prstGeom prst="roundRect">
            <a:avLst/>
          </a:prstGeom>
          <a:solidFill>
            <a:srgbClr val="F3EE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2980944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21B6"/>
                </a:solidFill>
                <a:latin typeface="Calibri"/>
              </a:rPr>
              <a:t>VM Risk Score</a:t>
            </a:r>
          </a:p>
          <a:p>
            <a:pPr algn="ctr"/>
            <a:r>
              <a:rPr sz="650" b="0" i="1">
                <a:solidFill>
                  <a:srgbClr val="5A6B7D"/>
                </a:solidFill>
                <a:latin typeface="Calibri"/>
              </a:rPr>
              <a:t>consumer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28048" y="1371600"/>
            <a:ext cx="21031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0" y="13716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Full network segmentation (preferred fix)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28048" y="1828800"/>
            <a:ext cx="21031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18288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Isolated TWIN (contingency)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28048" y="2286000"/>
            <a:ext cx="21031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22860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Frontier models (plug-in to Mantle)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28048" y="2743200"/>
            <a:ext cx="21031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0" y="27432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G34 / G35 authoring &amp; promotion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28048" y="3200400"/>
            <a:ext cx="21031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0" y="32004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Plexus power-user workflows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28048" y="3657600"/>
            <a:ext cx="210312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0" y="36576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566370"/>
                </a:solidFill>
                <a:latin typeface="Calibri"/>
              </a:rPr>
              <a:t>Response path → Mobius / VM Risk Score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2487168" y="23774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ight Arrow 72"/>
          <p:cNvSpPr/>
          <p:nvPr/>
        </p:nvSpPr>
        <p:spPr>
          <a:xfrm>
            <a:off x="4087368" y="246888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ight Arrow 73"/>
          <p:cNvSpPr/>
          <p:nvPr/>
        </p:nvSpPr>
        <p:spPr>
          <a:xfrm>
            <a:off x="5916168" y="23774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ight Arrow 74"/>
          <p:cNvSpPr/>
          <p:nvPr/>
        </p:nvSpPr>
        <p:spPr>
          <a:xfrm>
            <a:off x="7562088" y="23774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ight Arrow 75"/>
          <p:cNvSpPr/>
          <p:nvPr/>
        </p:nvSpPr>
        <p:spPr>
          <a:xfrm>
            <a:off x="9253728" y="23774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4320" y="480060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" y="5093207"/>
            <a:ext cx="182880" cy="146304"/>
          </a:xfrm>
          <a:prstGeom prst="rect">
            <a:avLst/>
          </a:prstGeom>
          <a:solidFill>
            <a:srgbClr val="E9F1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Foundation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36" y="5349240"/>
            <a:ext cx="182880" cy="146304"/>
          </a:xfrm>
          <a:prstGeom prst="rect">
            <a:avLst/>
          </a:prstGeom>
          <a:solidFill>
            <a:srgbClr val="F3EE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5840" y="53218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VM Ops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2336" y="5605271"/>
            <a:ext cx="182880" cy="146304"/>
          </a:xfrm>
          <a:prstGeom prst="rect">
            <a:avLst/>
          </a:prstGeom>
          <a:solidFill>
            <a:srgbClr val="EAF0F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5840" y="55778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Human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" y="5861303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58338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Future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498348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Two modes only: headless (automated) and interactive (human). No break-glass. Response path to Mobius / VM Risk Score deferred to long-term.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Deployable units · technology · one-door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152144"/>
            <a:ext cx="1417320" cy="365760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188720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External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152144"/>
            <a:ext cx="1600200" cy="36576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188720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Entry (AEGIS-owned)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52144"/>
            <a:ext cx="196596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188720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Control plane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52144"/>
            <a:ext cx="2011680" cy="365760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188720"/>
            <a:ext cx="1901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Per-run isolated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152144"/>
            <a:ext cx="1417320" cy="3657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188720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Targets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152144"/>
            <a:ext cx="1828800" cy="365760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6104" y="1188720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Foundation stores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32918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5166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1298448"/>
            <a:ext cx="1234440" cy="45720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13167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Foundation (CTC)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via Portico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1847088"/>
            <a:ext cx="1234440" cy="457200"/>
          </a:xfrm>
          <a:prstGeom prst="roundRect">
            <a:avLst/>
          </a:prstGeom>
          <a:solidFill>
            <a:srgbClr val="EA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186537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E40AF"/>
                </a:solidFill>
                <a:latin typeface="Calibri"/>
              </a:rPr>
              <a:t>Console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React / Vite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2395728"/>
            <a:ext cx="1234440" cy="457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241401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SSO / ADFS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OIDC → SID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51760" y="1298448"/>
            <a:ext cx="1417320" cy="4572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79" y="1316736"/>
            <a:ext cx="13258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aegis-api (Console API)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FastAPI · REST/SSE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1865376"/>
            <a:ext cx="1417320" cy="402336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1883664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Request intake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contract handler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2377440"/>
            <a:ext cx="1417320" cy="402336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79" y="239572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Identity binder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SID → FID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12344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16552" y="1307592"/>
            <a:ext cx="1636776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1307592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orchestrator — case router · sweeps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16552" y="1609344"/>
            <a:ext cx="1636776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2272" y="1609344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engagement-operator — RunTask · teardown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16552" y="1911095"/>
            <a:ext cx="1636776" cy="26517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2272" y="1911095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1B2735"/>
                </a:solidFill>
                <a:latin typeface="Calibri"/>
              </a:rPr>
              <a:t>governance — authorize every 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6552" y="2212848"/>
            <a:ext cx="1636776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2212848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lease-controller — dead-man switch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16552" y="2514600"/>
            <a:ext cx="1636776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2514600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cred-vendor · coordinator — creds · rate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6552" y="2816352"/>
            <a:ext cx="1636776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2272" y="2816352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validator · model-port — re-prove · Mantle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16552" y="3118104"/>
            <a:ext cx="1636776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2272" y="3118104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1B2735"/>
                </a:solidFill>
                <a:latin typeface="Calibri"/>
              </a:rPr>
              <a:t>evidence-audit — WORM → Cosmos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123444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12618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 i="0">
                <a:solidFill>
                  <a:srgbClr val="8A5A12"/>
                </a:solidFill>
                <a:latin typeface="Calibri"/>
              </a:rPr>
              <a:t>fork base image · Fargate/gVisor OR udocker · FID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73952" y="1481328"/>
            <a:ext cx="1682496" cy="384048"/>
          </a:xfrm>
          <a:prstGeom prst="roundRect">
            <a:avLst/>
          </a:prstGeom>
          <a:solidFill>
            <a:srgbClr val="FDF6E9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9672" y="1499616"/>
            <a:ext cx="1591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A12"/>
                </a:solidFill>
                <a:latin typeface="Calibri"/>
              </a:rPr>
              <a:t>BASELINE runtime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headless / scheduled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73952" y="1938528"/>
            <a:ext cx="1682496" cy="384048"/>
          </a:xfrm>
          <a:prstGeom prst="roundRect">
            <a:avLst/>
          </a:prstGeom>
          <a:solidFill>
            <a:srgbClr val="FDF6E9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9672" y="1956816"/>
            <a:ext cx="1591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A12"/>
                </a:solidFill>
                <a:latin typeface="Calibri"/>
              </a:rPr>
              <a:t>INTERACTIVE runtime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CyberOps · design later</a:t>
            </a:r>
          </a:p>
        </p:txBody>
      </p:sp>
      <p:sp>
        <p:nvSpPr>
          <p:cNvPr id="59" name="Oval 58"/>
          <p:cNvSpPr/>
          <p:nvPr/>
        </p:nvSpPr>
        <p:spPr>
          <a:xfrm>
            <a:off x="6419088" y="2048256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82512" y="2148840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65392" y="2066544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65392" y="2066544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2743200"/>
            <a:ext cx="1828800" cy="402336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27614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egress-gateway — ONE door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scope + rate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03920" y="1371600"/>
            <a:ext cx="1234440" cy="347472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9640" y="1389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A2020"/>
                </a:solidFill>
                <a:latin typeface="Calibri"/>
              </a:rPr>
              <a:t>dev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03920" y="1792224"/>
            <a:ext cx="1234440" cy="347472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181051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A2020"/>
                </a:solidFill>
                <a:latin typeface="Calibri"/>
              </a:rPr>
              <a:t>test / UAT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0" y="2212848"/>
            <a:ext cx="1234440" cy="347472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A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49640" y="2231136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A2020"/>
                </a:solidFill>
                <a:latin typeface="Calibri"/>
              </a:rPr>
              <a:t>prod — read-class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12680" y="1371600"/>
            <a:ext cx="1645920" cy="45720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0" y="138988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Cosmos (Iceberg)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findings · evidence · audit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12680" y="1883664"/>
            <a:ext cx="1645920" cy="402336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58400" y="19019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4683B"/>
                </a:solidFill>
                <a:latin typeface="Calibri"/>
              </a:rPr>
              <a:t>Foundation Postgres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run / lease / state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12680" y="2377440"/>
            <a:ext cx="1645920" cy="402336"/>
          </a:xfrm>
          <a:prstGeom prst="roundRect">
            <a:avLst/>
          </a:prstGeom>
          <a:solidFill>
            <a:srgbClr val="E7EDF3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58400" y="23957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Bedrock Mantle</a:t>
            </a:r>
          </a:p>
          <a:p>
            <a:pPr algn="ctr"/>
            <a:r>
              <a:rPr sz="630" b="0" i="1">
                <a:solidFill>
                  <a:srgbClr val="5A6B7D"/>
                </a:solidFill>
                <a:latin typeface="Calibri"/>
              </a:rPr>
              <a:t>standard models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012680" y="2926080"/>
            <a:ext cx="1645920" cy="402336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58400" y="2926080"/>
            <a:ext cx="1554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566370"/>
                </a:solidFill>
                <a:latin typeface="Calibri"/>
              </a:rPr>
              <a:t>Frontier models
future plug-in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2487168" y="1481328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ight Arrow 79"/>
          <p:cNvSpPr/>
          <p:nvPr/>
        </p:nvSpPr>
        <p:spPr>
          <a:xfrm>
            <a:off x="4087368" y="1481328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ight Arrow 80"/>
          <p:cNvSpPr/>
          <p:nvPr/>
        </p:nvSpPr>
        <p:spPr>
          <a:xfrm>
            <a:off x="6144768" y="1481328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8247888" y="1481328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ight Arrow 82"/>
          <p:cNvSpPr/>
          <p:nvPr/>
        </p:nvSpPr>
        <p:spPr>
          <a:xfrm>
            <a:off x="9848088" y="1481328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" y="48920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493775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86" name="Oval 85"/>
          <p:cNvSpPr/>
          <p:nvPr/>
        </p:nvSpPr>
        <p:spPr>
          <a:xfrm>
            <a:off x="475488" y="518464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38912" y="5285231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5840" y="51572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Manual / human</a:t>
            </a:r>
          </a:p>
        </p:txBody>
      </p:sp>
      <p:sp>
        <p:nvSpPr>
          <p:cNvPr id="89" name="Oval 88"/>
          <p:cNvSpPr/>
          <p:nvPr/>
        </p:nvSpPr>
        <p:spPr>
          <a:xfrm>
            <a:off x="411479" y="542239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75488" y="54864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" y="54132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Automated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2336" y="5696711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840" y="566927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Security chokepoint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" y="5952743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5840" y="59253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Long-term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0" y="502920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Console API is AEGIS-owned (governance + identity behind it). Foundation stores reused — Cosmos (Iceberg) + Foundation Postgres — no new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Inside the per-run agent runtime · the governed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56692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5A6B7D"/>
                </a:solidFill>
                <a:latin typeface="Calibri"/>
              </a:rPr>
              <a:t>The loop runs once per action — governance is called every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024128"/>
            <a:ext cx="1463040" cy="315468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060704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Run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024128"/>
            <a:ext cx="1828800" cy="315468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0904" y="106070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Harness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024128"/>
            <a:ext cx="3246120" cy="315468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060704"/>
            <a:ext cx="3136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The governed loop (per action)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024128"/>
            <a:ext cx="1691640" cy="315468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1060704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Gates crossed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1024128"/>
            <a:ext cx="2103120" cy="315468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1784" y="1060704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1325880"/>
            <a:ext cx="12801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1344168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B2735"/>
                </a:solidFill>
                <a:latin typeface="Calibri"/>
              </a:rPr>
              <a:t>Case spec
CVE/JVE →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1783080"/>
            <a:ext cx="12801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1801368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B2735"/>
                </a:solidFill>
                <a:latin typeface="Calibri"/>
              </a:rPr>
              <a:t>RoE + scope
signed envelope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2240280"/>
            <a:ext cx="12801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258568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B2735"/>
                </a:solidFill>
                <a:latin typeface="Calibri"/>
              </a:rPr>
              <a:t>Scoped creds (FID)
from cred-vendor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2697480"/>
            <a:ext cx="12801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2715768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1B2735"/>
                </a:solidFill>
                <a:latin typeface="Calibri"/>
              </a:rPr>
              <a:t>Lease
dead-man's switch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1325880"/>
            <a:ext cx="1645920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1344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 i="0">
                <a:solidFill>
                  <a:srgbClr val="1B2735"/>
                </a:solidFill>
                <a:latin typeface="Calibri"/>
              </a:rPr>
              <a:t>agent core — the 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1673352"/>
            <a:ext cx="1645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1691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0" i="0">
                <a:solidFill>
                  <a:srgbClr val="1B2735"/>
                </a:solidFill>
                <a:latin typeface="Calibri"/>
              </a:rPr>
              <a:t>case router / spec loader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2020824"/>
            <a:ext cx="1645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0391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0" i="0">
                <a:solidFill>
                  <a:srgbClr val="1B2735"/>
                </a:solidFill>
                <a:latin typeface="Calibri"/>
              </a:rPr>
              <a:t>working memory (observations)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2368296"/>
            <a:ext cx="1645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3865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0" i="0">
                <a:solidFill>
                  <a:srgbClr val="1B2735"/>
                </a:solidFill>
                <a:latin typeface="Calibri"/>
              </a:rPr>
              <a:t>tool registry — allow-list per case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2715768"/>
            <a:ext cx="1645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27340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0" i="0">
                <a:solidFill>
                  <a:srgbClr val="1B2735"/>
                </a:solidFill>
                <a:latin typeface="Calibri"/>
              </a:rPr>
              <a:t>clients: model · governance · egress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3063239"/>
            <a:ext cx="1645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08152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0" i="0">
                <a:solidFill>
                  <a:srgbClr val="1B2735"/>
                </a:solidFill>
                <a:latin typeface="Calibri"/>
              </a:rPr>
              <a:t>clients: validator · evidence · lease</a:t>
            </a:r>
          </a:p>
        </p:txBody>
      </p:sp>
      <p:sp>
        <p:nvSpPr>
          <p:cNvPr id="37" name="Oval 36"/>
          <p:cNvSpPr/>
          <p:nvPr/>
        </p:nvSpPr>
        <p:spPr>
          <a:xfrm>
            <a:off x="5010912" y="1316736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912" y="13167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1627632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1627632"/>
            <a:ext cx="950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B2735"/>
                </a:solidFill>
                <a:latin typeface="Calibri"/>
              </a:rPr>
              <a:t>PLAN</a:t>
            </a:r>
          </a:p>
          <a:p>
            <a:pPr algn="ctr"/>
            <a:r>
              <a:rPr sz="650" b="0" i="0">
                <a:solidFill>
                  <a:srgbClr val="5A6B7D"/>
                </a:solidFill>
                <a:latin typeface="Calibri"/>
              </a:rPr>
              <a:t>model proposes next action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660136" y="1847088"/>
            <a:ext cx="182880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89903" y="1316736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3" y="13167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96712" y="1627632"/>
            <a:ext cx="1024128" cy="566928"/>
          </a:xfrm>
          <a:prstGeom prst="round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33288" y="1627632"/>
            <a:ext cx="950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AUTHORIZE</a:t>
            </a:r>
          </a:p>
          <a:p>
            <a:pPr algn="ctr"/>
            <a:r>
              <a:rPr sz="650" b="0" i="0">
                <a:solidFill>
                  <a:srgbClr val="CADCFC"/>
                </a:solidFill>
                <a:latin typeface="Calibri"/>
              </a:rPr>
              <a:t>governance: ALLOW / BLOCK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739127" y="1847088"/>
            <a:ext cx="182880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68896" y="1316736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68896" y="13167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75704" y="1627632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1627632"/>
            <a:ext cx="950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B2735"/>
                </a:solidFill>
                <a:latin typeface="Calibri"/>
              </a:rPr>
              <a:t>ACT</a:t>
            </a:r>
          </a:p>
          <a:p>
            <a:pPr algn="ctr"/>
            <a:r>
              <a:rPr sz="650" b="0" i="0">
                <a:solidFill>
                  <a:srgbClr val="5A6B7D"/>
                </a:solidFill>
                <a:latin typeface="Calibri"/>
              </a:rPr>
              <a:t>allow-listed tool → egress</a:t>
            </a:r>
          </a:p>
        </p:txBody>
      </p:sp>
      <p:sp>
        <p:nvSpPr>
          <p:cNvPr id="51" name="Oval 50"/>
          <p:cNvSpPr/>
          <p:nvPr/>
        </p:nvSpPr>
        <p:spPr>
          <a:xfrm>
            <a:off x="5010912" y="234086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23408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17720" y="2651760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54296" y="2651760"/>
            <a:ext cx="950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B2735"/>
                </a:solidFill>
                <a:latin typeface="Calibri"/>
              </a:rPr>
              <a:t>OBSERVE</a:t>
            </a:r>
          </a:p>
          <a:p>
            <a:pPr algn="ctr"/>
            <a:r>
              <a:rPr sz="650" b="0" i="0">
                <a:solidFill>
                  <a:srgbClr val="5A6B7D"/>
                </a:solidFill>
                <a:latin typeface="Calibri"/>
              </a:rPr>
              <a:t>response → memory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660136" y="2871215"/>
            <a:ext cx="182880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089903" y="234086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3" y="23408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96712" y="2651760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33288" y="2651760"/>
            <a:ext cx="950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B2735"/>
                </a:solidFill>
                <a:latin typeface="Calibri"/>
              </a:rPr>
              <a:t>REFLECT</a:t>
            </a:r>
          </a:p>
          <a:p>
            <a:pPr algn="ctr"/>
            <a:r>
              <a:rPr sz="650" b="0" i="0">
                <a:solidFill>
                  <a:srgbClr val="5A6B7D"/>
                </a:solidFill>
                <a:latin typeface="Calibri"/>
              </a:rPr>
              <a:t>negative control + differential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6739127" y="2871215"/>
            <a:ext cx="182880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68896" y="234086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68896" y="23408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775704" y="2651760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2651760"/>
            <a:ext cx="950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B2735"/>
                </a:solidFill>
                <a:latin typeface="Calibri"/>
              </a:rPr>
              <a:t>PROPOSE</a:t>
            </a:r>
          </a:p>
          <a:p>
            <a:pPr algn="ctr"/>
            <a:r>
              <a:rPr sz="650" b="0" i="0">
                <a:solidFill>
                  <a:srgbClr val="5A6B7D"/>
                </a:solidFill>
                <a:latin typeface="Calibri"/>
              </a:rPr>
              <a:t>finding proposal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331012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5A6B7D"/>
                </a:solidFill>
                <a:latin typeface="Calibri"/>
              </a:rPr>
              <a:t>loop back to PLAN until budget or finding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5279" y="1325880"/>
            <a:ext cx="15087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1325880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1E2761"/>
                </a:solidFill>
                <a:latin typeface="Calibri"/>
              </a:rPr>
              <a:t>1. Governance</a:t>
            </a:r>
          </a:p>
          <a:p>
            <a:pPr algn="l"/>
            <a:r>
              <a:rPr sz="620" b="0" i="0">
                <a:solidFill>
                  <a:srgbClr val="5A6B7D"/>
                </a:solidFill>
                <a:latin typeface="Calibri"/>
              </a:rPr>
              <a:t>authorize before every act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55279" y="1691640"/>
            <a:ext cx="15087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1691640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1B2735"/>
                </a:solidFill>
                <a:latin typeface="Calibri"/>
              </a:rPr>
              <a:t>2. Tool allow-list</a:t>
            </a:r>
          </a:p>
          <a:p>
            <a:pPr algn="l"/>
            <a:r>
              <a:rPr sz="620" b="0" i="0">
                <a:solidFill>
                  <a:srgbClr val="5A6B7D"/>
                </a:solidFill>
                <a:latin typeface="Calibri"/>
              </a:rPr>
              <a:t>per case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55279" y="2057400"/>
            <a:ext cx="150876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01000" y="2057400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1E2761"/>
                </a:solidFill>
                <a:latin typeface="Calibri"/>
              </a:rPr>
              <a:t>3. Egress gateway</a:t>
            </a:r>
          </a:p>
          <a:p>
            <a:pPr algn="l"/>
            <a:r>
              <a:rPr sz="620" b="0" i="0">
                <a:solidFill>
                  <a:srgbClr val="5A6B7D"/>
                </a:solidFill>
                <a:latin typeface="Calibri"/>
              </a:rPr>
              <a:t>scope + rate · one door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79" y="2423160"/>
            <a:ext cx="15087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01000" y="2423160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4. Lease alive?</a:t>
            </a:r>
          </a:p>
          <a:p>
            <a:pPr algn="l"/>
            <a:r>
              <a:rPr sz="620" b="0" i="0">
                <a:solidFill>
                  <a:srgbClr val="5A6B7D"/>
                </a:solidFill>
                <a:latin typeface="Calibri"/>
              </a:rPr>
              <a:t>else abort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955279" y="2788920"/>
            <a:ext cx="15087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01000" y="2788920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F8F5B"/>
                </a:solidFill>
                <a:latin typeface="Calibri"/>
              </a:rPr>
              <a:t>5. Validator</a:t>
            </a:r>
          </a:p>
          <a:p>
            <a:pPr algn="l"/>
            <a:r>
              <a:rPr sz="620" b="0" i="0">
                <a:solidFill>
                  <a:srgbClr val="5A6B7D"/>
                </a:solidFill>
                <a:latin typeface="Calibri"/>
              </a:rPr>
              <a:t>re-prove — refute by default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738360" y="1325880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84080" y="134416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1B2735"/>
                </a:solidFill>
                <a:latin typeface="Calibri"/>
              </a:rPr>
              <a:t>Finding proposal (never self-recorded)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738360" y="1691640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84080" y="170992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1B2735"/>
                </a:solidFill>
                <a:latin typeface="Calibri"/>
              </a:rPr>
              <a:t>Validated finding + confidence rung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38360" y="2057400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84080" y="20756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1B2735"/>
                </a:solidFill>
                <a:latin typeface="Calibri"/>
              </a:rPr>
              <a:t>Evidence &amp; audit → Cosmos write-once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738360" y="2423160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784080" y="244144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1B2735"/>
                </a:solidFill>
                <a:latin typeface="Calibri"/>
              </a:rPr>
              <a:t>Run state → Foundation Postgres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38360" y="2788920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84080" y="28072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1B2735"/>
                </a:solidFill>
                <a:latin typeface="Calibri"/>
              </a:rPr>
              <a:t>Task destroyed — memory gone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2450592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ight Arrow 86"/>
          <p:cNvSpPr/>
          <p:nvPr/>
        </p:nvSpPr>
        <p:spPr>
          <a:xfrm>
            <a:off x="4370832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ight Arrow 87"/>
          <p:cNvSpPr/>
          <p:nvPr/>
        </p:nvSpPr>
        <p:spPr>
          <a:xfrm>
            <a:off x="7708392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ight Arrow 88"/>
          <p:cNvSpPr/>
          <p:nvPr/>
        </p:nvSpPr>
        <p:spPr>
          <a:xfrm>
            <a:off x="9491472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4343400"/>
            <a:ext cx="22860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43891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92" name="Oval 91"/>
          <p:cNvSpPr/>
          <p:nvPr/>
        </p:nvSpPr>
        <p:spPr>
          <a:xfrm>
            <a:off x="411479" y="461772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75488" y="468172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460857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Automated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2336" y="4892040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5840" y="48646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Security chokepoint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2336" y="5148071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5840" y="51206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Loop step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452628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The model only PROPOSES; the walls decide. If governance is unreachable the answer is BLOCK, never ALLOW (fail-closed). Same components serve baseline and interactive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One headless run,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207007" cy="365760"/>
          </a:xfrm>
          <a:prstGeom prst="rect">
            <a:avLst/>
          </a:prstGeom>
          <a:solidFill>
            <a:srgbClr val="F3EEFC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VINES / Foundation (CTC)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14983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73351" y="960120"/>
            <a:ext cx="1207007" cy="365760"/>
          </a:xfrm>
          <a:prstGeom prst="rect">
            <a:avLst/>
          </a:prstGeom>
          <a:solidFill>
            <a:srgbClr val="EAF0FA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0784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Request intake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6856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35224" y="960120"/>
            <a:ext cx="1207007" cy="365760"/>
          </a:xfrm>
          <a:prstGeom prst="rect">
            <a:avLst/>
          </a:prstGeom>
          <a:solidFill>
            <a:srgbClr val="EAF0FA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Governance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8728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97096" y="960120"/>
            <a:ext cx="1207007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Engagement-operator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58968" y="960120"/>
            <a:ext cx="1207007" cy="365760"/>
          </a:xfrm>
          <a:prstGeom prst="rect">
            <a:avLst/>
          </a:prstGeom>
          <a:solidFill>
            <a:srgbClr val="FBF3D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Per-run task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62472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720840" y="960120"/>
            <a:ext cx="1207007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Egress gateway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24344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982711" y="960120"/>
            <a:ext cx="1207007" cy="365760"/>
          </a:xfrm>
          <a:prstGeom prst="rect">
            <a:avLst/>
          </a:prstGeom>
          <a:solidFill>
            <a:srgbClr val="FBEEEE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143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Target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86215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44584" y="960120"/>
            <a:ext cx="1207007" cy="365760"/>
          </a:xfrm>
          <a:prstGeom prst="rect">
            <a:avLst/>
          </a:prstGeom>
          <a:solidFill>
            <a:srgbClr val="E9F1EC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5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Validator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48088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506455" y="960120"/>
            <a:ext cx="1207007" cy="365760"/>
          </a:xfrm>
          <a:prstGeom prst="rect">
            <a:avLst/>
          </a:prstGeom>
          <a:solidFill>
            <a:srgbClr val="E9F1EC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33887" y="9601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B2735"/>
                </a:solidFill>
                <a:latin typeface="Calibri"/>
              </a:rPr>
              <a:t>Cosmos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09959" y="1325880"/>
            <a:ext cx="0" cy="2880360"/>
          </a:xfrm>
          <a:prstGeom prst="bentConnector3">
            <a:avLst/>
          </a:prstGeom>
          <a:ln w="12700">
            <a:solidFill>
              <a:srgbClr val="B8C2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809036" y="2395727"/>
            <a:ext cx="5804611" cy="1321307"/>
          </a:xfrm>
          <a:prstGeom prst="rect">
            <a:avLst/>
          </a:prstGeom>
          <a:solidFill>
            <a:srgbClr val="FFFBF2"/>
          </a:solidFill>
          <a:ln w="12700">
            <a:solidFill>
              <a:srgbClr val="B779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72130" y="2249423"/>
            <a:ext cx="2926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8A5A12"/>
                </a:solidFill>
                <a:latin typeface="Calibri"/>
              </a:rPr>
              <a:t>loop — repeats per action (plan · authorize · act · observe · reflect)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4983" y="1517904"/>
            <a:ext cx="1261873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60704" y="135331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1. ExploitabilityRequest (via Portico)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76856" y="1778507"/>
            <a:ext cx="1261872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322575" y="161391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2. authorize engagement · RoE · SID→FID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38728" y="2039112"/>
            <a:ext cx="1261872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84448" y="1874519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3. ALLOW → provision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00600" y="2299715"/>
            <a:ext cx="1261872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46320" y="2135123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4. RunTask — fork base image · FID · lease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538728" y="2560320"/>
            <a:ext cx="2523744" cy="0"/>
          </a:xfrm>
          <a:prstGeom prst="bentConnector3">
            <a:avLst/>
          </a:prstGeom>
          <a:ln w="15240">
            <a:solidFill>
              <a:srgbClr val="B08A8A"/>
            </a:solidFill>
            <a:headEnd type="none"/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84448" y="2395727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5. authorize(action) — every action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538728" y="2820924"/>
            <a:ext cx="2523744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84448" y="26563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6. ALLOW / BLOCK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62472" y="3081528"/>
            <a:ext cx="1261872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08192" y="291693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7. allowed action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24344" y="3342132"/>
            <a:ext cx="1261871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370064" y="3177539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8. scoped request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62472" y="3602735"/>
            <a:ext cx="2523743" cy="0"/>
          </a:xfrm>
          <a:prstGeom prst="bentConnector3">
            <a:avLst/>
          </a:prstGeom>
          <a:ln w="15240">
            <a:solidFill>
              <a:srgbClr val="B08A8A"/>
            </a:solidFill>
            <a:headEnd type="none"/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08192" y="3438143"/>
            <a:ext cx="25237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9. response → observe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62472" y="3863339"/>
            <a:ext cx="3785616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08192" y="3698748"/>
            <a:ext cx="378561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10. propose finding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848088" y="4123944"/>
            <a:ext cx="1261871" cy="0"/>
          </a:xfrm>
          <a:prstGeom prst="bentConnector3">
            <a:avLst/>
          </a:prstGeom>
          <a:ln w="15240">
            <a:solidFill>
              <a:srgbClr val="5A6B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893808" y="395935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11. validated finding + evidence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14983" y="4384548"/>
            <a:ext cx="5047489" cy="0"/>
          </a:xfrm>
          <a:prstGeom prst="bentConnector3">
            <a:avLst/>
          </a:prstGeom>
          <a:ln w="15240">
            <a:solidFill>
              <a:srgbClr val="B08A8A"/>
            </a:solidFill>
            <a:headEnd type="none"/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60704" y="4219956"/>
            <a:ext cx="504748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 i="0">
                <a:solidFill>
                  <a:srgbClr val="1B2735"/>
                </a:solidFill>
                <a:latin typeface="Calibri"/>
              </a:rPr>
              <a:t>12. ExploitabilityResult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572000"/>
            <a:ext cx="22860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6177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61" name="Oval 60"/>
          <p:cNvSpPr/>
          <p:nvPr/>
        </p:nvSpPr>
        <p:spPr>
          <a:xfrm>
            <a:off x="411479" y="484632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75488" y="491032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" y="483717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Automated step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2336" y="5120640"/>
            <a:ext cx="1828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" y="50932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2336" y="5376671"/>
            <a:ext cx="1828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0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" y="53492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Return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0" y="475488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Governance is called on EVERY action inside the loop, not once per run. The task only proposes; the validator re-proves before anything is recorded.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AWS account · VPC tiers · where each piece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024128"/>
            <a:ext cx="1874519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060704"/>
            <a:ext cx="1764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Public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024128"/>
            <a:ext cx="2194560" cy="3200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1060704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Egress tier (private → NAT)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024128"/>
            <a:ext cx="2514600" cy="320040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060704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Task tier — ISOLATED (no internet route)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024128"/>
            <a:ext cx="1828800" cy="320040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64424" y="1060704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Foundation stores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024128"/>
            <a:ext cx="1920240" cy="32004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84664" y="106070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Outside the account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023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32588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1344168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ALB + WAF
public entry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132588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1344168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ALB + WAF
public entry</a:t>
            </a:r>
          </a:p>
        </p:txBody>
      </p:sp>
      <p:sp>
        <p:nvSpPr>
          <p:cNvPr id="28" name="Oval 27"/>
          <p:cNvSpPr/>
          <p:nvPr/>
        </p:nvSpPr>
        <p:spPr>
          <a:xfrm>
            <a:off x="1060704" y="141732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24712" y="148132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000" y="1801368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1819656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NAT gateways
(egress tier only)</a:t>
            </a:r>
          </a:p>
        </p:txBody>
      </p:sp>
      <p:sp>
        <p:nvSpPr>
          <p:cNvPr id="32" name="Oval 31"/>
          <p:cNvSpPr/>
          <p:nvPr/>
        </p:nvSpPr>
        <p:spPr>
          <a:xfrm>
            <a:off x="1060704" y="1892807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4712" y="195681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08960" y="1325880"/>
            <a:ext cx="2011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6704" y="1344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EKS + Fargate
control-plane services</a:t>
            </a:r>
          </a:p>
        </p:txBody>
      </p:sp>
      <p:sp>
        <p:nvSpPr>
          <p:cNvPr id="36" name="Oval 35"/>
          <p:cNvSpPr/>
          <p:nvPr/>
        </p:nvSpPr>
        <p:spPr>
          <a:xfrm>
            <a:off x="3026664" y="142646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90672" y="14904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08960" y="1819656"/>
            <a:ext cx="2011680" cy="402336"/>
          </a:xfrm>
          <a:prstGeom prst="round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6704" y="1837943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egress-gateway — ONE door
scope + 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2313432"/>
            <a:ext cx="2011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6704" y="233172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aegis-api (Console API)
FastAPI</a:t>
            </a:r>
          </a:p>
        </p:txBody>
      </p:sp>
      <p:sp>
        <p:nvSpPr>
          <p:cNvPr id="42" name="Oval 41"/>
          <p:cNvSpPr/>
          <p:nvPr/>
        </p:nvSpPr>
        <p:spPr>
          <a:xfrm>
            <a:off x="3026664" y="241401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090672" y="247802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94960" y="128016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130759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 i="0">
                <a:solidFill>
                  <a:srgbClr val="8A5A12"/>
                </a:solidFill>
                <a:latin typeface="Calibri"/>
              </a:rPr>
              <a:t>ECS Fargate — one task per run · gVisor OR udocker · FID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68112" y="1517904"/>
            <a:ext cx="218541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05856" y="1536192"/>
            <a:ext cx="19110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BASELINE runtime</a:t>
            </a:r>
          </a:p>
        </p:txBody>
      </p:sp>
      <p:sp>
        <p:nvSpPr>
          <p:cNvPr id="48" name="Oval 47"/>
          <p:cNvSpPr/>
          <p:nvPr/>
        </p:nvSpPr>
        <p:spPr>
          <a:xfrm>
            <a:off x="5385816" y="161848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49824" y="16824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68112" y="1956816"/>
            <a:ext cx="218541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05856" y="1975104"/>
            <a:ext cx="19110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INTERACTIVE runtime</a:t>
            </a:r>
          </a:p>
        </p:txBody>
      </p:sp>
      <p:sp>
        <p:nvSpPr>
          <p:cNvPr id="52" name="Oval 51"/>
          <p:cNvSpPr/>
          <p:nvPr/>
        </p:nvSpPr>
        <p:spPr>
          <a:xfrm>
            <a:off x="5422392" y="2066543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385816" y="2167127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68696" y="2084831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68696" y="2084831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94960" y="2834640"/>
            <a:ext cx="23317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32704" y="2852928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VPC endpoints (PrivateLink)
Mantle · ECR · logs · STS · KMS</a:t>
            </a:r>
          </a:p>
        </p:txBody>
      </p:sp>
      <p:sp>
        <p:nvSpPr>
          <p:cNvPr id="58" name="Oval 57"/>
          <p:cNvSpPr/>
          <p:nvPr/>
        </p:nvSpPr>
        <p:spPr>
          <a:xfrm>
            <a:off x="5312664" y="293522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76672" y="299923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01000" y="1325880"/>
            <a:ext cx="16459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38744" y="13441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Cosmos (Iceberg)
write-once</a:t>
            </a:r>
          </a:p>
        </p:txBody>
      </p:sp>
      <p:sp>
        <p:nvSpPr>
          <p:cNvPr id="62" name="Oval 61"/>
          <p:cNvSpPr/>
          <p:nvPr/>
        </p:nvSpPr>
        <p:spPr>
          <a:xfrm>
            <a:off x="7918704" y="142646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2712" y="14904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01000" y="1819656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38744" y="1837943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Foundation Postgres
run / lease / state</a:t>
            </a:r>
          </a:p>
        </p:txBody>
      </p:sp>
      <p:sp>
        <p:nvSpPr>
          <p:cNvPr id="66" name="Oval 65"/>
          <p:cNvSpPr/>
          <p:nvPr/>
        </p:nvSpPr>
        <p:spPr>
          <a:xfrm>
            <a:off x="7918704" y="192024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982712" y="19842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001000" y="2295144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38744" y="231343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Portico
events</a:t>
            </a:r>
          </a:p>
        </p:txBody>
      </p:sp>
      <p:sp>
        <p:nvSpPr>
          <p:cNvPr id="70" name="Oval 69"/>
          <p:cNvSpPr/>
          <p:nvPr/>
        </p:nvSpPr>
        <p:spPr>
          <a:xfrm>
            <a:off x="7918704" y="239572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982712" y="245973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921240" y="1325880"/>
            <a:ext cx="1737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58984" y="1344168"/>
            <a:ext cx="1463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Bedrock Mantle
via PrivateLink</a:t>
            </a:r>
          </a:p>
        </p:txBody>
      </p:sp>
      <p:sp>
        <p:nvSpPr>
          <p:cNvPr id="74" name="Oval 73"/>
          <p:cNvSpPr/>
          <p:nvPr/>
        </p:nvSpPr>
        <p:spPr>
          <a:xfrm>
            <a:off x="9838944" y="142646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02952" y="14904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921240" y="1801368"/>
            <a:ext cx="1737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58984" y="1819656"/>
            <a:ext cx="1463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Targets
dev / test / UAT / prod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21240" y="2276856"/>
            <a:ext cx="1737360" cy="45720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58984" y="2295144"/>
            <a:ext cx="1463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7A2020"/>
                </a:solidFill>
                <a:latin typeface="Calibri"/>
              </a:rPr>
              <a:t>dev/test/UAT share PROD's ONE network — segmentation is the near-term fix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21240" y="2852928"/>
            <a:ext cx="1737360" cy="384048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66960" y="285292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566370"/>
                </a:solidFill>
                <a:latin typeface="Calibri"/>
              </a:rPr>
              <a:t>Full segmentation / Twin
long-term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285292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ight Arrow 82"/>
          <p:cNvSpPr/>
          <p:nvPr/>
        </p:nvSpPr>
        <p:spPr>
          <a:xfrm>
            <a:off x="513892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ight Arrow 83"/>
          <p:cNvSpPr/>
          <p:nvPr/>
        </p:nvSpPr>
        <p:spPr>
          <a:xfrm>
            <a:off x="774496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ight Arrow 84"/>
          <p:cNvSpPr/>
          <p:nvPr/>
        </p:nvSpPr>
        <p:spPr>
          <a:xfrm>
            <a:off x="966520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44348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448055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88" name="Oval 87"/>
          <p:cNvSpPr/>
          <p:nvPr/>
        </p:nvSpPr>
        <p:spPr>
          <a:xfrm>
            <a:off x="411479" y="4709159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75488" y="4773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Automated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2336" y="4983479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Security chokepoint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2336" y="5239511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521207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Risk / target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2336" y="5495543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Long-term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0" y="461772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Task tier has NO internet route — the only path out is the egress gateway; AWS/Mantle is reached over PrivateLink.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SID (the person) → FID (the workload), attribution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024128"/>
            <a:ext cx="1920240" cy="320040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06070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The person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024128"/>
            <a:ext cx="2057400" cy="3200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060704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Establish 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024128"/>
            <a:ext cx="219456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1060704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Bind to the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024128"/>
            <a:ext cx="2103120" cy="320040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1060704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The run 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024128"/>
            <a:ext cx="2057400" cy="320040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7504" y="1060704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Attribution</a:t>
            </a:r>
          </a:p>
        </p:txBody>
      </p:sp>
      <p:sp>
        <p:nvSpPr>
          <p:cNvPr id="16" name="Oval 15"/>
          <p:cNvSpPr/>
          <p:nvPr/>
        </p:nvSpPr>
        <p:spPr>
          <a:xfrm>
            <a:off x="1874519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977639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444752"/>
            <a:ext cx="1737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1463040"/>
            <a:ext cx="1243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Pentester on VDI
(interactive)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155448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0704" y="1655064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3584" y="1572768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1572768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1993392"/>
            <a:ext cx="1737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2011680"/>
            <a:ext cx="1243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Case owner
(headless — named human)</a:t>
            </a:r>
          </a:p>
        </p:txBody>
      </p:sp>
      <p:sp>
        <p:nvSpPr>
          <p:cNvPr id="32" name="Oval 31"/>
          <p:cNvSpPr/>
          <p:nvPr/>
        </p:nvSpPr>
        <p:spPr>
          <a:xfrm>
            <a:off x="1097280" y="210312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0704" y="2203703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43584" y="2121408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43584" y="2121408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2560320"/>
            <a:ext cx="1737360" cy="457200"/>
          </a:xfrm>
          <a:prstGeom prst="roundRect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6152" y="2578608"/>
            <a:ext cx="16276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Every run has ONE accountable person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54680" y="1325880"/>
            <a:ext cx="187451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1344168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SSO / ADFS
OIDC login</a:t>
            </a:r>
          </a:p>
        </p:txBody>
      </p:sp>
      <p:sp>
        <p:nvSpPr>
          <p:cNvPr id="40" name="Oval 39"/>
          <p:cNvSpPr/>
          <p:nvPr/>
        </p:nvSpPr>
        <p:spPr>
          <a:xfrm>
            <a:off x="3072384" y="142646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36391" y="14904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54680" y="1819656"/>
            <a:ext cx="187451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92424" y="1837943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SID established
the human identity</a:t>
            </a:r>
          </a:p>
        </p:txBody>
      </p:sp>
      <p:sp>
        <p:nvSpPr>
          <p:cNvPr id="44" name="Oval 43"/>
          <p:cNvSpPr/>
          <p:nvPr/>
        </p:nvSpPr>
        <p:spPr>
          <a:xfrm>
            <a:off x="3072384" y="192024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36391" y="19842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154680" y="2313432"/>
            <a:ext cx="1874519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92424" y="233172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Console API / intake
carries SID as on-behalf-of</a:t>
            </a:r>
          </a:p>
        </p:txBody>
      </p:sp>
      <p:sp>
        <p:nvSpPr>
          <p:cNvPr id="48" name="Oval 47"/>
          <p:cNvSpPr/>
          <p:nvPr/>
        </p:nvSpPr>
        <p:spPr>
          <a:xfrm>
            <a:off x="3072384" y="241401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36391" y="247802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03520" y="1325880"/>
            <a:ext cx="20116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41264" y="13441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engagement-operator
AssumeRole + session tags</a:t>
            </a:r>
          </a:p>
        </p:txBody>
      </p:sp>
      <p:sp>
        <p:nvSpPr>
          <p:cNvPr id="52" name="Oval 51"/>
          <p:cNvSpPr/>
          <p:nvPr/>
        </p:nvSpPr>
        <p:spPr>
          <a:xfrm>
            <a:off x="5221224" y="14356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85232" y="14996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303520" y="1837943"/>
            <a:ext cx="2011680" cy="457200"/>
          </a:xfrm>
          <a:prstGeom prst="round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6672" y="1856231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tags: human_sid + engagement_id (transitive)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03520" y="2386584"/>
            <a:ext cx="2011680" cy="420624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76672" y="2404872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7A2020"/>
                </a:solidFill>
                <a:latin typeface="Calibri"/>
              </a:rPr>
              <a:t>No SID → refused
(fail-closed)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89520" y="1325880"/>
            <a:ext cx="19202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27264" y="13441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Functional ID (FID)
least-privilege run role</a:t>
            </a:r>
          </a:p>
        </p:txBody>
      </p:sp>
      <p:sp>
        <p:nvSpPr>
          <p:cNvPr id="60" name="Oval 59"/>
          <p:cNvSpPr/>
          <p:nvPr/>
        </p:nvSpPr>
        <p:spPr>
          <a:xfrm>
            <a:off x="7507224" y="14356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71232" y="14996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589520" y="1837943"/>
            <a:ext cx="19202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27264" y="185623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Task acts AS the FID
carries SID as principal tag</a:t>
            </a:r>
          </a:p>
        </p:txBody>
      </p:sp>
      <p:sp>
        <p:nvSpPr>
          <p:cNvPr id="64" name="Oval 63"/>
          <p:cNvSpPr/>
          <p:nvPr/>
        </p:nvSpPr>
        <p:spPr>
          <a:xfrm>
            <a:off x="7507224" y="194767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71232" y="201167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589520" y="2350008"/>
            <a:ext cx="19202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27264" y="236829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Scoped creds from cred-vendor · short-lived</a:t>
            </a:r>
          </a:p>
        </p:txBody>
      </p:sp>
      <p:sp>
        <p:nvSpPr>
          <p:cNvPr id="68" name="Oval 67"/>
          <p:cNvSpPr/>
          <p:nvPr/>
        </p:nvSpPr>
        <p:spPr>
          <a:xfrm>
            <a:off x="7507224" y="245973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571232" y="252374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784080" y="1325880"/>
            <a:ext cx="1874519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21824" y="1344168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CloudTrail
role = FID + human_sid</a:t>
            </a:r>
          </a:p>
        </p:txBody>
      </p:sp>
      <p:sp>
        <p:nvSpPr>
          <p:cNvPr id="72" name="Oval 71"/>
          <p:cNvSpPr/>
          <p:nvPr/>
        </p:nvSpPr>
        <p:spPr>
          <a:xfrm>
            <a:off x="9701784" y="14356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65792" y="14996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784080" y="1837943"/>
            <a:ext cx="1874519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21824" y="1856231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Cosmos audit
every action, write-once</a:t>
            </a:r>
          </a:p>
        </p:txBody>
      </p:sp>
      <p:sp>
        <p:nvSpPr>
          <p:cNvPr id="76" name="Oval 75"/>
          <p:cNvSpPr/>
          <p:nvPr/>
        </p:nvSpPr>
        <p:spPr>
          <a:xfrm>
            <a:off x="9701784" y="194767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65792" y="201167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784080" y="2350008"/>
            <a:ext cx="1874519" cy="457200"/>
          </a:xfrm>
          <a:prstGeom prst="roundRect">
            <a:avLst/>
          </a:prstGeom>
          <a:solidFill>
            <a:srgbClr val="E9F5EC"/>
          </a:solidFill>
          <a:ln w="1270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57232" y="2368296"/>
            <a:ext cx="17647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"Who did this?" always resolves to a named person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289864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ight Arrow 80"/>
          <p:cNvSpPr/>
          <p:nvPr/>
        </p:nvSpPr>
        <p:spPr>
          <a:xfrm>
            <a:off x="504748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733348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ight Arrow 82"/>
          <p:cNvSpPr/>
          <p:nvPr/>
        </p:nvSpPr>
        <p:spPr>
          <a:xfrm>
            <a:off x="952804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" y="44348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448055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86" name="Oval 85"/>
          <p:cNvSpPr/>
          <p:nvPr/>
        </p:nvSpPr>
        <p:spPr>
          <a:xfrm>
            <a:off x="475488" y="472744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38912" y="4828031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Human</a:t>
            </a:r>
          </a:p>
        </p:txBody>
      </p:sp>
      <p:sp>
        <p:nvSpPr>
          <p:cNvPr id="89" name="Oval 88"/>
          <p:cNvSpPr/>
          <p:nvPr/>
        </p:nvSpPr>
        <p:spPr>
          <a:xfrm>
            <a:off x="411479" y="496519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75488" y="50292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Automated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2336" y="5239511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840" y="521207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The binding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" y="5495543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Fail-closed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0" y="461772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The workload runs as a functional ID, but the human SID rides along as a session tag — so both appear on every logged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AEGIS —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6B7D"/>
                </a:solidFill>
                <a:latin typeface="Calibri"/>
              </a:rPr>
              <a:t>What is ephemeral, what is durable, what never travels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5A6B7D"/>
                </a:solidFill>
                <a:latin typeface="Calibri"/>
              </a:rPr>
              <a:t>JPMC INTERNAL USE ONLY —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024128"/>
            <a:ext cx="1920240" cy="320040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06070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024128"/>
            <a:ext cx="2103120" cy="320040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060704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Ephemeral (in the task)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024128"/>
            <a:ext cx="2194560" cy="3200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1060704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Proof &amp;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024128"/>
            <a:ext cx="2148840" cy="320040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98664" y="106070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Durable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024128"/>
            <a:ext cx="1965960" cy="3200400"/>
          </a:xfrm>
          <a:prstGeom prst="rect">
            <a:avLst/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38944" y="1060704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B7D"/>
                </a:solidFill>
                <a:latin typeface="Calibri"/>
              </a:rPr>
              <a:t>Consumers</a:t>
            </a:r>
          </a:p>
        </p:txBody>
      </p:sp>
      <p:sp>
        <p:nvSpPr>
          <p:cNvPr id="16" name="Oval 15"/>
          <p:cNvSpPr/>
          <p:nvPr/>
        </p:nvSpPr>
        <p:spPr>
          <a:xfrm>
            <a:off x="1874519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977639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84582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768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B4300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325880"/>
            <a:ext cx="1737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1344168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ExploitabilityRequest
CVE / JVE + target</a:t>
            </a:r>
          </a:p>
        </p:txBody>
      </p:sp>
      <p:sp>
        <p:nvSpPr>
          <p:cNvPr id="26" name="Oval 25"/>
          <p:cNvSpPr/>
          <p:nvPr/>
        </p:nvSpPr>
        <p:spPr>
          <a:xfrm>
            <a:off x="1060704" y="1426464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712" y="14904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3000" y="1819656"/>
            <a:ext cx="1737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1837943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RoE + scope
signed envelope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" y="1920240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24712" y="19842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000" y="2313432"/>
            <a:ext cx="1737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2331720"/>
            <a:ext cx="1463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Case spec
what to test</a:t>
            </a:r>
          </a:p>
        </p:txBody>
      </p:sp>
      <p:sp>
        <p:nvSpPr>
          <p:cNvPr id="34" name="Oval 33"/>
          <p:cNvSpPr/>
          <p:nvPr/>
        </p:nvSpPr>
        <p:spPr>
          <a:xfrm>
            <a:off x="1060704" y="241401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24712" y="247802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54680" y="1325880"/>
            <a:ext cx="1920240" cy="420624"/>
          </a:xfrm>
          <a:prstGeom prst="roundRect">
            <a:avLst/>
          </a:prstGeom>
          <a:solidFill>
            <a:srgbClr val="FDF6E9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13441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Observations
status · timing · shape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54680" y="1837943"/>
            <a:ext cx="1920240" cy="420624"/>
          </a:xfrm>
          <a:prstGeom prst="roundRect">
            <a:avLst/>
          </a:prstGeom>
          <a:solidFill>
            <a:srgbClr val="FDF6E9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185623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Working memory
destroyed with the task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54680" y="2377440"/>
            <a:ext cx="1920240" cy="45720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92424" y="2395728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7A2020"/>
                </a:solidFill>
                <a:latin typeface="Calibri"/>
              </a:rPr>
              <a:t>Raw sensitive bytes
NEVER leave the task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240" y="1325880"/>
            <a:ext cx="20116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86983" y="13441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Finding proposal
agent cannot self-record</a:t>
            </a:r>
          </a:p>
        </p:txBody>
      </p:sp>
      <p:sp>
        <p:nvSpPr>
          <p:cNvPr id="44" name="Oval 43"/>
          <p:cNvSpPr/>
          <p:nvPr/>
        </p:nvSpPr>
        <p:spPr>
          <a:xfrm>
            <a:off x="5266944" y="14356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330952" y="14996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49240" y="1837943"/>
            <a:ext cx="20116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86983" y="1856231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Validator re-proves
negative control + differential</a:t>
            </a:r>
          </a:p>
        </p:txBody>
      </p:sp>
      <p:sp>
        <p:nvSpPr>
          <p:cNvPr id="48" name="Oval 47"/>
          <p:cNvSpPr/>
          <p:nvPr/>
        </p:nvSpPr>
        <p:spPr>
          <a:xfrm>
            <a:off x="5266944" y="194767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30952" y="201167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49240" y="2350008"/>
            <a:ext cx="20116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86983" y="236829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Confidence rung
static / replica-proven</a:t>
            </a:r>
          </a:p>
        </p:txBody>
      </p:sp>
      <p:sp>
        <p:nvSpPr>
          <p:cNvPr id="52" name="Oval 51"/>
          <p:cNvSpPr/>
          <p:nvPr/>
        </p:nvSpPr>
        <p:spPr>
          <a:xfrm>
            <a:off x="5266944" y="245973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330952" y="252374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635240" y="1325880"/>
            <a:ext cx="1965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2983" y="1344168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Cosmos (Iceberg)
findings — queryable</a:t>
            </a:r>
          </a:p>
        </p:txBody>
      </p:sp>
      <p:sp>
        <p:nvSpPr>
          <p:cNvPr id="56" name="Oval 55"/>
          <p:cNvSpPr/>
          <p:nvPr/>
        </p:nvSpPr>
        <p:spPr>
          <a:xfrm>
            <a:off x="7552944" y="14356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616952" y="14996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635240" y="1837943"/>
            <a:ext cx="1965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72983" y="1856231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Evidence — pointer only
write-once</a:t>
            </a:r>
          </a:p>
        </p:txBody>
      </p:sp>
      <p:sp>
        <p:nvSpPr>
          <p:cNvPr id="60" name="Oval 59"/>
          <p:cNvSpPr/>
          <p:nvPr/>
        </p:nvSpPr>
        <p:spPr>
          <a:xfrm>
            <a:off x="7552944" y="1947672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16952" y="201167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635240" y="2350008"/>
            <a:ext cx="1965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72983" y="2368296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Audit chain
hash-linked, tamper-evident</a:t>
            </a:r>
          </a:p>
        </p:txBody>
      </p:sp>
      <p:sp>
        <p:nvSpPr>
          <p:cNvPr id="64" name="Oval 63"/>
          <p:cNvSpPr/>
          <p:nvPr/>
        </p:nvSpPr>
        <p:spPr>
          <a:xfrm>
            <a:off x="7552944" y="2459736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616952" y="252374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875520" y="1325880"/>
            <a:ext cx="17830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13264" y="134416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Report
repro + evidence ref</a:t>
            </a:r>
          </a:p>
        </p:txBody>
      </p:sp>
      <p:sp>
        <p:nvSpPr>
          <p:cNvPr id="68" name="Oval 67"/>
          <p:cNvSpPr/>
          <p:nvPr/>
        </p:nvSpPr>
        <p:spPr>
          <a:xfrm>
            <a:off x="9793224" y="1435608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857232" y="149961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875520" y="1920240"/>
            <a:ext cx="17830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13264" y="193852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1B2735"/>
                </a:solidFill>
                <a:latin typeface="Calibri"/>
              </a:rPr>
              <a:t>CyberOps review
green sign-off</a:t>
            </a:r>
          </a:p>
        </p:txBody>
      </p:sp>
      <p:sp>
        <p:nvSpPr>
          <p:cNvPr id="72" name="Oval 71"/>
          <p:cNvSpPr/>
          <p:nvPr/>
        </p:nvSpPr>
        <p:spPr>
          <a:xfrm>
            <a:off x="9829800" y="202996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793224" y="2130552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976104" y="2048256"/>
            <a:ext cx="256032" cy="155448"/>
          </a:xfrm>
          <a:prstGeom prst="rect">
            <a:avLst/>
          </a:prstGeom>
          <a:solidFill>
            <a:srgbClr val="FCE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76104" y="2048256"/>
            <a:ext cx="25603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B4300"/>
                </a:solidFill>
                <a:latin typeface="Calibri"/>
              </a:rPr>
              <a:t>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75520" y="2468880"/>
            <a:ext cx="1783080" cy="457200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21240" y="24688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0" i="0">
                <a:solidFill>
                  <a:srgbClr val="566370"/>
                </a:solidFill>
                <a:latin typeface="Calibri"/>
              </a:rPr>
              <a:t>Response path →
Mobius / VM Risk Score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289864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ight Arrow 78"/>
          <p:cNvSpPr/>
          <p:nvPr/>
        </p:nvSpPr>
        <p:spPr>
          <a:xfrm>
            <a:off x="509320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ight Arrow 79"/>
          <p:cNvSpPr/>
          <p:nvPr/>
        </p:nvSpPr>
        <p:spPr>
          <a:xfrm>
            <a:off x="737920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ight Arrow 80"/>
          <p:cNvSpPr/>
          <p:nvPr/>
        </p:nvSpPr>
        <p:spPr>
          <a:xfrm>
            <a:off x="9619488" y="1463040"/>
            <a:ext cx="256032" cy="146304"/>
          </a:xfrm>
          <a:prstGeom prst="rightArrow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4320" y="4434840"/>
            <a:ext cx="2286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448055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B2735"/>
                </a:solidFill>
                <a:latin typeface="Calibri"/>
              </a:rPr>
              <a:t>Legend</a:t>
            </a:r>
          </a:p>
        </p:txBody>
      </p:sp>
      <p:sp>
        <p:nvSpPr>
          <p:cNvPr id="84" name="Oval 83"/>
          <p:cNvSpPr/>
          <p:nvPr/>
        </p:nvSpPr>
        <p:spPr>
          <a:xfrm>
            <a:off x="411479" y="4709159"/>
            <a:ext cx="182880" cy="182880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75488" y="4773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Automated</a:t>
            </a:r>
          </a:p>
        </p:txBody>
      </p:sp>
      <p:sp>
        <p:nvSpPr>
          <p:cNvPr id="87" name="Oval 86"/>
          <p:cNvSpPr/>
          <p:nvPr/>
        </p:nvSpPr>
        <p:spPr>
          <a:xfrm>
            <a:off x="475488" y="4983479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38912" y="5084064"/>
            <a:ext cx="164592" cy="1097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Human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02336" y="5239511"/>
            <a:ext cx="182880" cy="14630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" y="521207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Ephemeral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2336" y="5495543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Never travels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" y="5751575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5840" y="572414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B2735"/>
                </a:solidFill>
                <a:latin typeface="Calibri"/>
              </a:rPr>
              <a:t>Long-term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0" y="470916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A6B7D"/>
                </a:solidFill>
                <a:latin typeface="Calibri"/>
              </a:rPr>
              <a:t>Compute is throwaway; the record is not. Evidence is referenced by pointer — raw sensitive bytes never cross a boundary.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