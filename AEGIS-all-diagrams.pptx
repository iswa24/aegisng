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AEGIS Target State Vision (full): channels, intake, Governance &amp; Planning with the full control stack, agentic worker grid (agents/tools/orchestration with iteration), validator, outbound, consumers. CyberOps authors execution instructions that pass through the SAME governance, and steers live in parallel. Feedback rail includes A/B champion-challenger model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AEGIS process flow, LOB value-stream convention. Foundation-specific names used: Foundation (CTC), Portico, Kestra, Cosmos, Bedrock Mantle, VINES, Mobius. Long-term/future items in the grey dashed lane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in the LOB value-stream style: requesters, Foundation (CTC), the sandbox, targets, records/models, and a grey long-term 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Containers in the LOB value-stream style: external, entry, control plane, per-run task (baseline vs interactive), targets, Foundation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C3 components in the LOB value-stream style: run inputs, harness components, the six-step governed loop, the five gates, and the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for one headless run: request → authorize → provision → gated loop → propose → validate →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Deployment: public tier (ALB/NAT), egress tier (EKS + gateway), isolated task tier (ECS Fargate per run), Foundation stores, and outside-the-account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Identity: person → SID via SSO → operator assumes the run role with human_sid + engagement_id session tags → task acts as FID → CloudTrail and Cosmos show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flow: inputs, ephemeral task memory, proof/validation, durable write-once records in Cosmos, consumers.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Target State Vision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384048" y="548640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governed, fully-agentic pentesting environment · worker VMs at scale · CyberOps authors &amp; steers in parallel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91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JPMC INTERNAL USE ONLY —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822192" y="1298448"/>
            <a:ext cx="5623560" cy="3977640"/>
          </a:xfrm>
          <a:prstGeom prst="roundRect">
            <a:avLst>
              <a:gd name="adj" fmla="val 460"/>
            </a:avLst>
          </a:prstGeom>
          <a:solidFill>
            <a:srgbClr val="F7F8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95344" y="132588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— the agentic pentesting environment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05840" y="1591056"/>
            <a:ext cx="1371600" cy="2788920"/>
          </a:xfrm>
          <a:prstGeom prst="rect">
            <a:avLst/>
          </a:prstGeom>
          <a:solidFill>
            <a:srgbClr val="EC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591056"/>
            <a:ext cx="1170432" cy="2788920"/>
          </a:xfrm>
          <a:prstGeom prst="rect">
            <a:avLst/>
          </a:prstGeom>
          <a:solidFill>
            <a:srgbClr val="EAF0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1591056"/>
            <a:ext cx="1417320" cy="2788920"/>
          </a:xfrm>
          <a:prstGeom prst="rect">
            <a:avLst/>
          </a:prstGeom>
          <a:solidFill>
            <a:srgbClr val="EE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591056"/>
            <a:ext cx="3931920" cy="1952244"/>
          </a:xfrm>
          <a:prstGeom prst="rect">
            <a:avLst/>
          </a:prstGeom>
          <a:solidFill>
            <a:srgbClr val="E9F1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0680" y="3654857"/>
            <a:ext cx="3931920" cy="725119"/>
          </a:xfrm>
          <a:prstGeom prst="rect">
            <a:avLst/>
          </a:prstGeom>
          <a:solidFill>
            <a:srgbClr val="F6EC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0" y="1591056"/>
            <a:ext cx="1325880" cy="2788920"/>
          </a:xfrm>
          <a:prstGeom prst="rect">
            <a:avLst/>
          </a:prstGeom>
          <a:solidFill>
            <a:srgbClr val="E9F1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024128"/>
            <a:ext cx="201168" cy="201168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1024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10058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/ Triggers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68880" y="1024128"/>
            <a:ext cx="201168" cy="201168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68880" y="1024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715768" y="10058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31920" y="1024128"/>
            <a:ext cx="201168" cy="201168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1024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178808" y="1005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Planning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10058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Agentic workers — VMs at scale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509760" y="1024128"/>
            <a:ext cx="201168" cy="201168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9760" y="1024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756648" y="10058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69848" y="1664208"/>
            <a:ext cx="124358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71016" y="16824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VINES — headless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1097280" y="1773936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52144" y="18288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84832" y="1719072"/>
            <a:ext cx="566928" cy="164592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84832" y="17190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/mo [TBD]</a:t>
            </a:r>
            <a:endParaRPr lang="en-US" sz="560" dirty="0"/>
          </a:p>
        </p:txBody>
      </p:sp>
      <p:sp>
        <p:nvSpPr>
          <p:cNvPr id="33" name="Shape 31"/>
          <p:cNvSpPr/>
          <p:nvPr/>
        </p:nvSpPr>
        <p:spPr>
          <a:xfrm>
            <a:off x="1069848" y="2157984"/>
            <a:ext cx="124358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71016" y="21762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→ Artifactory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1097280" y="2267712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52144" y="2322576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84832" y="2212848"/>
            <a:ext cx="566928" cy="164592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084832" y="221284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/day [TBD]</a:t>
            </a:r>
            <a:endParaRPr lang="en-US" sz="560" dirty="0"/>
          </a:p>
        </p:txBody>
      </p:sp>
      <p:sp>
        <p:nvSpPr>
          <p:cNvPr id="39" name="Shape 37"/>
          <p:cNvSpPr/>
          <p:nvPr/>
        </p:nvSpPr>
        <p:spPr>
          <a:xfrm>
            <a:off x="1069848" y="2651760"/>
            <a:ext cx="124358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271016" y="26700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Pentester / VDI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1133856" y="2752344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2843784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84832" y="2706624"/>
            <a:ext cx="566928" cy="164592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084832" y="27066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live [TBD]</a:t>
            </a:r>
            <a:endParaRPr lang="en-US" sz="560" dirty="0"/>
          </a:p>
        </p:txBody>
      </p:sp>
      <p:sp>
        <p:nvSpPr>
          <p:cNvPr id="45" name="Shape 43"/>
          <p:cNvSpPr/>
          <p:nvPr/>
        </p:nvSpPr>
        <p:spPr>
          <a:xfrm>
            <a:off x="1069848" y="3145536"/>
            <a:ext cx="124358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271016" y="31638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ADFS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1097280" y="3255264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52144" y="331012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05840" y="39959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Ops · CyberOps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523744" y="1700784"/>
            <a:ext cx="1060704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724912" y="17190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request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551176" y="1828800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06040" y="188366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23744" y="2212848"/>
            <a:ext cx="1060704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724912" y="22311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sort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2551176" y="234086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551176" y="23408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523744" y="2724912"/>
            <a:ext cx="1060704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724912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case &amp; index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2551176" y="2852928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06040" y="2907792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986784" y="1682496"/>
            <a:ext cx="1307592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B8C2C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187952" y="1700784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plan (what to test)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4014216" y="178308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014216" y="17830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66" name="Text 64"/>
          <p:cNvSpPr txBox="1"/>
          <p:nvPr/>
        </p:nvSpPr>
        <p:spPr>
          <a:xfrm>
            <a:off x="3986784" y="210312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controls — enforced on EVERY action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3986784" y="2258568"/>
            <a:ext cx="1307592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187952" y="2276856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RoE &amp; scope</a:t>
            </a: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4014216" y="2322576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069080" y="237744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986784" y="2587752"/>
            <a:ext cx="1307592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187952" y="260604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per action</a:t>
            </a:r>
            <a:endParaRPr lang="en-US" sz="620" dirty="0"/>
          </a:p>
        </p:txBody>
      </p:sp>
      <p:sp>
        <p:nvSpPr>
          <p:cNvPr id="73" name="Shape 71"/>
          <p:cNvSpPr/>
          <p:nvPr/>
        </p:nvSpPr>
        <p:spPr>
          <a:xfrm>
            <a:off x="4014216" y="2651760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069080" y="270662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986784" y="2916936"/>
            <a:ext cx="1307592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187952" y="2935224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→ allow/block/appr.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4014216" y="2980944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69080" y="303580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986784" y="3246120"/>
            <a:ext cx="1307592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187952" y="326440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scope + rate</a:t>
            </a:r>
            <a:endParaRPr lang="en-US" sz="620" dirty="0"/>
          </a:p>
        </p:txBody>
      </p:sp>
      <p:sp>
        <p:nvSpPr>
          <p:cNvPr id="81" name="Shape 79"/>
          <p:cNvSpPr/>
          <p:nvPr/>
        </p:nvSpPr>
        <p:spPr>
          <a:xfrm>
            <a:off x="4014216" y="3310128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069080" y="3364992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986784" y="3575304"/>
            <a:ext cx="1307592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187952" y="3593592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· fail-closed · kill</a:t>
            </a:r>
            <a:endParaRPr lang="en-US" sz="620" dirty="0"/>
          </a:p>
        </p:txBody>
      </p:sp>
      <p:sp>
        <p:nvSpPr>
          <p:cNvPr id="85" name="Shape 83"/>
          <p:cNvSpPr/>
          <p:nvPr/>
        </p:nvSpPr>
        <p:spPr>
          <a:xfrm>
            <a:off x="4014216" y="3639312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069080" y="3694176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86400" y="1664208"/>
            <a:ext cx="1252728" cy="1627632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dash"/>
          </a:ln>
        </p:spPr>
      </p:sp>
      <p:sp>
        <p:nvSpPr>
          <p:cNvPr id="88" name="Text 86"/>
          <p:cNvSpPr txBox="1"/>
          <p:nvPr/>
        </p:nvSpPr>
        <p:spPr>
          <a:xfrm>
            <a:off x="5532120" y="168249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(reason)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5532120" y="1856232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733288" y="1874520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target</a:t>
            </a:r>
            <a:endParaRPr lang="en-US" sz="620" dirty="0"/>
          </a:p>
        </p:txBody>
      </p:sp>
      <p:sp>
        <p:nvSpPr>
          <p:cNvPr id="91" name="Shape 89"/>
          <p:cNvSpPr/>
          <p:nvPr/>
        </p:nvSpPr>
        <p:spPr>
          <a:xfrm>
            <a:off x="5559552" y="192024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559552" y="19202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5532120" y="2194560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733288" y="221284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weak spots</a:t>
            </a:r>
            <a:endParaRPr lang="en-US" sz="620" dirty="0"/>
          </a:p>
        </p:txBody>
      </p:sp>
      <p:sp>
        <p:nvSpPr>
          <p:cNvPr id="95" name="Shape 93"/>
          <p:cNvSpPr/>
          <p:nvPr/>
        </p:nvSpPr>
        <p:spPr>
          <a:xfrm>
            <a:off x="5559552" y="2258568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559552" y="22585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5532120" y="2532888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5733288" y="255117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attack path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5559552" y="259689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559552" y="2596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5532120" y="2871216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733288" y="2889504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proof</a:t>
            </a:r>
            <a:endParaRPr lang="en-US" sz="620" dirty="0"/>
          </a:p>
        </p:txBody>
      </p:sp>
      <p:sp>
        <p:nvSpPr>
          <p:cNvPr id="103" name="Shape 101"/>
          <p:cNvSpPr/>
          <p:nvPr/>
        </p:nvSpPr>
        <p:spPr>
          <a:xfrm>
            <a:off x="5559552" y="293522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559552" y="29352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6812280" y="1664208"/>
            <a:ext cx="1252728" cy="1627632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5240">
            <a:solidFill>
              <a:srgbClr val="2F8F5B"/>
            </a:solidFill>
            <a:prstDash val="dash"/>
          </a:ln>
        </p:spPr>
      </p:sp>
      <p:sp>
        <p:nvSpPr>
          <p:cNvPr id="106" name="Text 104"/>
          <p:cNvSpPr txBox="1"/>
          <p:nvPr/>
        </p:nvSpPr>
        <p:spPr>
          <a:xfrm>
            <a:off x="6858000" y="168249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TOOLS (act)</a:t>
            </a:r>
            <a:endParaRPr lang="en-US" sz="680" dirty="0"/>
          </a:p>
        </p:txBody>
      </p:sp>
      <p:sp>
        <p:nvSpPr>
          <p:cNvPr id="107" name="Shape 105"/>
          <p:cNvSpPr/>
          <p:nvPr/>
        </p:nvSpPr>
        <p:spPr>
          <a:xfrm>
            <a:off x="6858000" y="1856232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7059168" y="1874520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web requests</a:t>
            </a:r>
            <a:endParaRPr lang="en-US" sz="620" dirty="0"/>
          </a:p>
        </p:txBody>
      </p:sp>
      <p:sp>
        <p:nvSpPr>
          <p:cNvPr id="109" name="Shape 107"/>
          <p:cNvSpPr/>
          <p:nvPr/>
        </p:nvSpPr>
        <p:spPr>
          <a:xfrm>
            <a:off x="6885432" y="1920240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40296" y="197510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858000" y="2194560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7059168" y="221284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logins/access</a:t>
            </a:r>
            <a:endParaRPr lang="en-US" sz="620" dirty="0"/>
          </a:p>
        </p:txBody>
      </p:sp>
      <p:sp>
        <p:nvSpPr>
          <p:cNvPr id="113" name="Shape 111"/>
          <p:cNvSpPr/>
          <p:nvPr/>
        </p:nvSpPr>
        <p:spPr>
          <a:xfrm>
            <a:off x="6885432" y="2258568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940296" y="2313432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858000" y="2532888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7059168" y="255117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inputs safely</a:t>
            </a:r>
            <a:endParaRPr lang="en-US" sz="620" dirty="0"/>
          </a:p>
        </p:txBody>
      </p:sp>
      <p:sp>
        <p:nvSpPr>
          <p:cNvPr id="117" name="Shape 115"/>
          <p:cNvSpPr/>
          <p:nvPr/>
        </p:nvSpPr>
        <p:spPr>
          <a:xfrm>
            <a:off x="6885432" y="2596896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940296" y="265176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858000" y="2871216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7059168" y="2889504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checks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6885432" y="2935224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940296" y="299008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138160" y="1664208"/>
            <a:ext cx="1188720" cy="1627632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240">
            <a:solidFill>
              <a:srgbClr val="B7791F"/>
            </a:solidFill>
            <a:prstDash val="dash"/>
          </a:ln>
        </p:spPr>
      </p:sp>
      <p:sp>
        <p:nvSpPr>
          <p:cNvPr id="124" name="Text 122"/>
          <p:cNvSpPr txBox="1"/>
          <p:nvPr/>
        </p:nvSpPr>
        <p:spPr>
          <a:xfrm>
            <a:off x="8183880" y="16824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680" dirty="0"/>
          </a:p>
        </p:txBody>
      </p:sp>
      <p:sp>
        <p:nvSpPr>
          <p:cNvPr id="125" name="Shape 123"/>
          <p:cNvSpPr/>
          <p:nvPr/>
        </p:nvSpPr>
        <p:spPr>
          <a:xfrm>
            <a:off x="8183880" y="1856232"/>
            <a:ext cx="1097280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8385048" y="187452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the loop ↻</a:t>
            </a:r>
            <a:endParaRPr lang="en-US" sz="620" dirty="0"/>
          </a:p>
        </p:txBody>
      </p:sp>
      <p:sp>
        <p:nvSpPr>
          <p:cNvPr id="127" name="Shape 125"/>
          <p:cNvSpPr/>
          <p:nvPr/>
        </p:nvSpPr>
        <p:spPr>
          <a:xfrm>
            <a:off x="8211312" y="192024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8211312" y="19202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8183880" y="2194560"/>
            <a:ext cx="1097280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8385048" y="221284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worker VMs (scale)</a:t>
            </a:r>
            <a:endParaRPr lang="en-US" sz="620" dirty="0"/>
          </a:p>
        </p:txBody>
      </p:sp>
      <p:sp>
        <p:nvSpPr>
          <p:cNvPr id="131" name="Shape 129"/>
          <p:cNvSpPr/>
          <p:nvPr/>
        </p:nvSpPr>
        <p:spPr>
          <a:xfrm>
            <a:off x="8211312" y="2258568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266176" y="2313432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183880" y="2532888"/>
            <a:ext cx="1097280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8385048" y="255117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exit door</a:t>
            </a:r>
            <a:endParaRPr lang="en-US" sz="620" dirty="0"/>
          </a:p>
        </p:txBody>
      </p:sp>
      <p:sp>
        <p:nvSpPr>
          <p:cNvPr id="135" name="Shape 133"/>
          <p:cNvSpPr/>
          <p:nvPr/>
        </p:nvSpPr>
        <p:spPr>
          <a:xfrm>
            <a:off x="8211312" y="2596896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266176" y="265176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183880" y="2871216"/>
            <a:ext cx="1097280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8385048" y="288950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&amp; clean up</a:t>
            </a:r>
            <a:endParaRPr lang="en-US" sz="620" dirty="0"/>
          </a:p>
        </p:txBody>
      </p:sp>
      <p:sp>
        <p:nvSpPr>
          <p:cNvPr id="139" name="Shape 137"/>
          <p:cNvSpPr/>
          <p:nvPr/>
        </p:nvSpPr>
        <p:spPr>
          <a:xfrm>
            <a:off x="8211312" y="2935224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266176" y="299008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5486400" y="332841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iterate: plan → act → observe → reflect → repeat until finding or budget</a:t>
            </a:r>
            <a:endParaRPr lang="en-US" sz="650" dirty="0"/>
          </a:p>
        </p:txBody>
      </p:sp>
      <p:sp>
        <p:nvSpPr>
          <p:cNvPr id="142" name="Text 140"/>
          <p:cNvSpPr txBox="1"/>
          <p:nvPr/>
        </p:nvSpPr>
        <p:spPr>
          <a:xfrm>
            <a:off x="5532120" y="3664001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Quality — Validator (re-proves everything)</a:t>
            </a:r>
            <a:endParaRPr lang="en-US" sz="720" dirty="0"/>
          </a:p>
        </p:txBody>
      </p:sp>
      <p:sp>
        <p:nvSpPr>
          <p:cNvPr id="143" name="Shape 141"/>
          <p:cNvSpPr/>
          <p:nvPr/>
        </p:nvSpPr>
        <p:spPr>
          <a:xfrm>
            <a:off x="5532120" y="3837737"/>
            <a:ext cx="905256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5733288" y="3856025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Re-prove finding</a:t>
            </a:r>
            <a:endParaRPr lang="en-US" sz="600" dirty="0"/>
          </a:p>
        </p:txBody>
      </p:sp>
      <p:sp>
        <p:nvSpPr>
          <p:cNvPr id="145" name="Shape 143"/>
          <p:cNvSpPr/>
          <p:nvPr/>
        </p:nvSpPr>
        <p:spPr>
          <a:xfrm>
            <a:off x="5559552" y="3947465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5559552" y="3947465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6492240" y="3837737"/>
            <a:ext cx="905256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6693408" y="3856025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</a:t>
            </a:r>
            <a:endParaRPr lang="en-US" sz="600" dirty="0"/>
          </a:p>
        </p:txBody>
      </p:sp>
      <p:sp>
        <p:nvSpPr>
          <p:cNvPr id="149" name="Shape 147"/>
          <p:cNvSpPr/>
          <p:nvPr/>
        </p:nvSpPr>
        <p:spPr>
          <a:xfrm>
            <a:off x="6519672" y="3947465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574536" y="4002329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52360" y="3837737"/>
            <a:ext cx="905256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7653528" y="3856025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</a:t>
            </a:r>
            <a:endParaRPr lang="en-US" sz="600" dirty="0"/>
          </a:p>
        </p:txBody>
      </p:sp>
      <p:sp>
        <p:nvSpPr>
          <p:cNvPr id="153" name="Shape 151"/>
          <p:cNvSpPr/>
          <p:nvPr/>
        </p:nvSpPr>
        <p:spPr>
          <a:xfrm>
            <a:off x="7479792" y="3947465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534656" y="4002329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412480" y="3837737"/>
            <a:ext cx="905256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8613648" y="3856025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</a:t>
            </a:r>
            <a:endParaRPr lang="en-US" sz="600" dirty="0"/>
          </a:p>
        </p:txBody>
      </p:sp>
      <p:sp>
        <p:nvSpPr>
          <p:cNvPr id="157" name="Shape 155"/>
          <p:cNvSpPr/>
          <p:nvPr/>
        </p:nvSpPr>
        <p:spPr>
          <a:xfrm>
            <a:off x="8476488" y="3938321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439912" y="4029761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564624" y="1682496"/>
            <a:ext cx="1216152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9765792" y="1700784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Exploitability result</a:t>
            </a:r>
            <a:endParaRPr lang="en-US" sz="660" dirty="0"/>
          </a:p>
        </p:txBody>
      </p:sp>
      <p:sp>
        <p:nvSpPr>
          <p:cNvPr id="161" name="Shape 159"/>
          <p:cNvSpPr/>
          <p:nvPr/>
        </p:nvSpPr>
        <p:spPr>
          <a:xfrm>
            <a:off x="9592056" y="1801368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646920" y="1856232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64624" y="2157984"/>
            <a:ext cx="1216152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9765792" y="2176272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→ Cosmos</a:t>
            </a:r>
            <a:endParaRPr lang="en-US" sz="660" dirty="0"/>
          </a:p>
        </p:txBody>
      </p:sp>
      <p:sp>
        <p:nvSpPr>
          <p:cNvPr id="165" name="Shape 163"/>
          <p:cNvSpPr/>
          <p:nvPr/>
        </p:nvSpPr>
        <p:spPr>
          <a:xfrm>
            <a:off x="9592056" y="2276856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646920" y="233172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564624" y="2633472"/>
            <a:ext cx="1216152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9765792" y="265176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(write-once)</a:t>
            </a:r>
            <a:endParaRPr lang="en-US" sz="660" dirty="0"/>
          </a:p>
        </p:txBody>
      </p:sp>
      <p:sp>
        <p:nvSpPr>
          <p:cNvPr id="169" name="Shape 167"/>
          <p:cNvSpPr/>
          <p:nvPr/>
        </p:nvSpPr>
        <p:spPr>
          <a:xfrm>
            <a:off x="9592056" y="2752344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646920" y="280720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564624" y="3108960"/>
            <a:ext cx="1216152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9765792" y="3127248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660" dirty="0"/>
          </a:p>
        </p:txBody>
      </p:sp>
      <p:sp>
        <p:nvSpPr>
          <p:cNvPr id="173" name="Shape 171"/>
          <p:cNvSpPr/>
          <p:nvPr/>
        </p:nvSpPr>
        <p:spPr>
          <a:xfrm>
            <a:off x="9592056" y="3227832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646920" y="3282696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564624" y="3584448"/>
            <a:ext cx="1216152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9765792" y="3602736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state → Postgres</a:t>
            </a:r>
            <a:endParaRPr lang="en-US" sz="660" dirty="0"/>
          </a:p>
        </p:txBody>
      </p:sp>
      <p:sp>
        <p:nvSpPr>
          <p:cNvPr id="177" name="Shape 175"/>
          <p:cNvSpPr/>
          <p:nvPr/>
        </p:nvSpPr>
        <p:spPr>
          <a:xfrm>
            <a:off x="9592056" y="3703320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646920" y="375818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247120" y="1728216"/>
            <a:ext cx="329184" cy="25603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10881360" y="19933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Risk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650" dirty="0"/>
          </a:p>
        </p:txBody>
      </p:sp>
      <p:sp>
        <p:nvSpPr>
          <p:cNvPr id="181" name="Shape 179"/>
          <p:cNvSpPr/>
          <p:nvPr/>
        </p:nvSpPr>
        <p:spPr>
          <a:xfrm>
            <a:off x="11247120" y="2688336"/>
            <a:ext cx="329184" cy="25603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10881360" y="2953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 /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650" dirty="0"/>
          </a:p>
        </p:txBody>
      </p:sp>
      <p:sp>
        <p:nvSpPr>
          <p:cNvPr id="183" name="Shape 181"/>
          <p:cNvSpPr/>
          <p:nvPr/>
        </p:nvSpPr>
        <p:spPr>
          <a:xfrm>
            <a:off x="11247120" y="3648456"/>
            <a:ext cx="329184" cy="25603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10881360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/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3931920" y="4434840"/>
            <a:ext cx="5440680" cy="566928"/>
          </a:xfrm>
          <a:prstGeom prst="roundRect">
            <a:avLst>
              <a:gd name="adj" fmla="val 4839"/>
            </a:avLst>
          </a:prstGeom>
          <a:solidFill>
            <a:srgbClr val="F3EEFC"/>
          </a:solidFill>
          <a:ln w="17780">
            <a:solidFill>
              <a:srgbClr val="7C3AED"/>
            </a:solidFill>
            <a:prstDash val="dash"/>
          </a:ln>
        </p:spPr>
      </p:sp>
      <p:sp>
        <p:nvSpPr>
          <p:cNvPr id="186" name="Shape 184"/>
          <p:cNvSpPr/>
          <p:nvPr/>
        </p:nvSpPr>
        <p:spPr>
          <a:xfrm>
            <a:off x="4059936" y="4489704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023360" y="4581144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4279392" y="44531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 — interactive (in parallel)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5943600" y="4636008"/>
            <a:ext cx="160020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6144768" y="4654296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execution instructions</a:t>
            </a:r>
            <a:endParaRPr lang="en-US" sz="620" dirty="0"/>
          </a:p>
        </p:txBody>
      </p:sp>
      <p:sp>
        <p:nvSpPr>
          <p:cNvPr id="191" name="Shape 189"/>
          <p:cNvSpPr/>
          <p:nvPr/>
        </p:nvSpPr>
        <p:spPr>
          <a:xfrm>
            <a:off x="6007608" y="4681728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5971032" y="4773168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589520" y="4709160"/>
            <a:ext cx="201168" cy="128016"/>
          </a:xfrm>
          <a:prstGeom prst="rightArrow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818120" y="4636008"/>
            <a:ext cx="15087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8019288" y="4654296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Planning → SAME governance</a:t>
            </a:r>
            <a:endParaRPr lang="en-US" sz="620" dirty="0"/>
          </a:p>
        </p:txBody>
      </p:sp>
      <p:sp>
        <p:nvSpPr>
          <p:cNvPr id="196" name="Shape 194"/>
          <p:cNvSpPr/>
          <p:nvPr/>
        </p:nvSpPr>
        <p:spPr>
          <a:xfrm>
            <a:off x="7845552" y="4690872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900416" y="4745736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4023360" y="4654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pass through the SAME governance walls — no bypass.</a:t>
            </a:r>
            <a:endParaRPr lang="en-US" sz="620" dirty="0"/>
          </a:p>
        </p:txBody>
      </p:sp>
      <p:sp>
        <p:nvSpPr>
          <p:cNvPr id="199" name="Shape 197"/>
          <p:cNvSpPr/>
          <p:nvPr/>
        </p:nvSpPr>
        <p:spPr>
          <a:xfrm>
            <a:off x="8595360" y="4636008"/>
            <a:ext cx="0" cy="-182880"/>
          </a:xfrm>
          <a:prstGeom prst="line">
            <a:avLst/>
          </a:prstGeom>
          <a:noFill/>
          <a:ln w="15240">
            <a:solidFill>
              <a:srgbClr val="7C3AED"/>
            </a:solidFill>
            <a:prstDash val="dash"/>
            <a:tailEnd type="triangle"/>
          </a:ln>
        </p:spPr>
      </p:sp>
      <p:sp>
        <p:nvSpPr>
          <p:cNvPr id="200" name="Shape 198"/>
          <p:cNvSpPr/>
          <p:nvPr/>
        </p:nvSpPr>
        <p:spPr>
          <a:xfrm>
            <a:off x="2313432" y="223113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611880" y="223113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321808" y="223113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345168" y="223113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808208" y="186537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808208" y="282549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808208" y="378561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1005840" y="530352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· Sampling · Model Learning  (humans improve models; A/B champion-challenger before promotion)</a:t>
            </a:r>
            <a:endParaRPr lang="en-US" sz="780" dirty="0"/>
          </a:p>
        </p:txBody>
      </p:sp>
      <p:sp>
        <p:nvSpPr>
          <p:cNvPr id="208" name="Shape 206"/>
          <p:cNvSpPr/>
          <p:nvPr/>
        </p:nvSpPr>
        <p:spPr>
          <a:xfrm>
            <a:off x="1005840" y="5486400"/>
            <a:ext cx="1335024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09" name="Text 207"/>
          <p:cNvSpPr txBox="1"/>
          <p:nvPr/>
        </p:nvSpPr>
        <p:spPr>
          <a:xfrm>
            <a:off x="1207008" y="55046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models</a:t>
            </a:r>
            <a:endParaRPr lang="en-US" sz="640" dirty="0"/>
          </a:p>
        </p:txBody>
      </p:sp>
      <p:sp>
        <p:nvSpPr>
          <p:cNvPr id="210" name="Shape 208"/>
          <p:cNvSpPr/>
          <p:nvPr/>
        </p:nvSpPr>
        <p:spPr>
          <a:xfrm>
            <a:off x="1033272" y="563270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1033272" y="5632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212" name="Shape 210"/>
          <p:cNvSpPr/>
          <p:nvPr/>
        </p:nvSpPr>
        <p:spPr>
          <a:xfrm>
            <a:off x="2423160" y="5486400"/>
            <a:ext cx="1335024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13" name="Text 211"/>
          <p:cNvSpPr txBox="1"/>
          <p:nvPr/>
        </p:nvSpPr>
        <p:spPr>
          <a:xfrm>
            <a:off x="2624328" y="55046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planning</a:t>
            </a:r>
            <a:endParaRPr lang="en-US" sz="640" dirty="0"/>
          </a:p>
        </p:txBody>
      </p:sp>
      <p:sp>
        <p:nvSpPr>
          <p:cNvPr id="214" name="Shape 212"/>
          <p:cNvSpPr/>
          <p:nvPr/>
        </p:nvSpPr>
        <p:spPr>
          <a:xfrm>
            <a:off x="2450592" y="563270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2450592" y="5632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216" name="Shape 214"/>
          <p:cNvSpPr/>
          <p:nvPr/>
        </p:nvSpPr>
        <p:spPr>
          <a:xfrm>
            <a:off x="3840480" y="5486400"/>
            <a:ext cx="1335024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17" name="Text 215"/>
          <p:cNvSpPr txBox="1"/>
          <p:nvPr/>
        </p:nvSpPr>
        <p:spPr>
          <a:xfrm>
            <a:off x="4041648" y="55046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validator</a:t>
            </a:r>
            <a:endParaRPr lang="en-US" sz="640" dirty="0"/>
          </a:p>
        </p:txBody>
      </p:sp>
      <p:sp>
        <p:nvSpPr>
          <p:cNvPr id="218" name="Shape 216"/>
          <p:cNvSpPr/>
          <p:nvPr/>
        </p:nvSpPr>
        <p:spPr>
          <a:xfrm>
            <a:off x="3867912" y="563270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19" name="Text 217"/>
          <p:cNvSpPr txBox="1"/>
          <p:nvPr/>
        </p:nvSpPr>
        <p:spPr>
          <a:xfrm>
            <a:off x="3867912" y="5632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220" name="Shape 218"/>
          <p:cNvSpPr/>
          <p:nvPr/>
        </p:nvSpPr>
        <p:spPr>
          <a:xfrm>
            <a:off x="5257800" y="5486400"/>
            <a:ext cx="1335024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21" name="Text 219"/>
          <p:cNvSpPr txBox="1"/>
          <p:nvPr/>
        </p:nvSpPr>
        <p:spPr>
          <a:xfrm>
            <a:off x="5458968" y="55046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model test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vs challenger</a:t>
            </a:r>
            <a:endParaRPr lang="en-US" sz="640" dirty="0"/>
          </a:p>
        </p:txBody>
      </p:sp>
      <p:sp>
        <p:nvSpPr>
          <p:cNvPr id="222" name="Shape 220"/>
          <p:cNvSpPr/>
          <p:nvPr/>
        </p:nvSpPr>
        <p:spPr>
          <a:xfrm>
            <a:off x="5285232" y="563270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23" name="Text 221"/>
          <p:cNvSpPr txBox="1"/>
          <p:nvPr/>
        </p:nvSpPr>
        <p:spPr>
          <a:xfrm>
            <a:off x="5285232" y="5632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224" name="Shape 222"/>
          <p:cNvSpPr/>
          <p:nvPr/>
        </p:nvSpPr>
        <p:spPr>
          <a:xfrm>
            <a:off x="6675120" y="5486400"/>
            <a:ext cx="1335024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6876288" y="55046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(when required)</a:t>
            </a:r>
            <a:endParaRPr lang="en-US" sz="640" dirty="0"/>
          </a:p>
        </p:txBody>
      </p:sp>
      <p:sp>
        <p:nvSpPr>
          <p:cNvPr id="226" name="Shape 224"/>
          <p:cNvSpPr/>
          <p:nvPr/>
        </p:nvSpPr>
        <p:spPr>
          <a:xfrm>
            <a:off x="6739128" y="5623560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702552" y="5715000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5239512" y="5468112"/>
            <a:ext cx="1371600" cy="493776"/>
          </a:xfrm>
          <a:prstGeom prst="roundRect">
            <a:avLst>
              <a:gd name="adj" fmla="val 5556"/>
            </a:avLst>
          </a:prstGeom>
          <a:noFill/>
          <a:ln w="19050">
            <a:solidFill>
              <a:srgbClr val="12A594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183880" y="5468112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8275320" y="5504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8293608" y="572414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8293608" y="57241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233" name="Text 231"/>
          <p:cNvSpPr txBox="1"/>
          <p:nvPr/>
        </p:nvSpPr>
        <p:spPr>
          <a:xfrm>
            <a:off x="8513064" y="5705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Gen-AI model</a:t>
            </a:r>
            <a:endParaRPr lang="en-US" sz="700" dirty="0"/>
          </a:p>
        </p:txBody>
      </p:sp>
      <p:sp>
        <p:nvSpPr>
          <p:cNvPr id="234" name="Shape 232"/>
          <p:cNvSpPr/>
          <p:nvPr/>
        </p:nvSpPr>
        <p:spPr>
          <a:xfrm>
            <a:off x="10122408" y="5724144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177272" y="577900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6" name="Text 234"/>
          <p:cNvSpPr txBox="1"/>
          <p:nvPr/>
        </p:nvSpPr>
        <p:spPr>
          <a:xfrm>
            <a:off x="10341864" y="5705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automation</a:t>
            </a:r>
            <a:endParaRPr lang="en-US" sz="700" dirty="0"/>
          </a:p>
        </p:txBody>
      </p:sp>
      <p:sp>
        <p:nvSpPr>
          <p:cNvPr id="237" name="Shape 235"/>
          <p:cNvSpPr/>
          <p:nvPr/>
        </p:nvSpPr>
        <p:spPr>
          <a:xfrm>
            <a:off x="8330184" y="5980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293608" y="6071616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8513064" y="59618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700" dirty="0"/>
          </a:p>
        </p:txBody>
      </p:sp>
      <p:sp>
        <p:nvSpPr>
          <p:cNvPr id="240" name="Shape 238"/>
          <p:cNvSpPr/>
          <p:nvPr/>
        </p:nvSpPr>
        <p:spPr>
          <a:xfrm>
            <a:off x="10158984" y="5980176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122408" y="6071616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2" name="Text 240"/>
          <p:cNvSpPr txBox="1"/>
          <p:nvPr/>
        </p:nvSpPr>
        <p:spPr>
          <a:xfrm>
            <a:off x="10341864" y="59618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task</a:t>
            </a:r>
            <a:endParaRPr lang="en-US" sz="700" dirty="0"/>
          </a:p>
        </p:txBody>
      </p:sp>
      <p:sp>
        <p:nvSpPr>
          <p:cNvPr id="243" name="Shape 241"/>
          <p:cNvSpPr/>
          <p:nvPr/>
        </p:nvSpPr>
        <p:spPr>
          <a:xfrm>
            <a:off x="8293608" y="6217920"/>
            <a:ext cx="164592" cy="128016"/>
          </a:xfrm>
          <a:prstGeom prst="roundRect">
            <a:avLst>
              <a:gd name="adj" fmla="val 21429"/>
            </a:avLst>
          </a:prstGeom>
          <a:noFill/>
          <a:ln w="16510">
            <a:solidFill>
              <a:srgbClr val="7C3AED"/>
            </a:solidFill>
            <a:prstDash val="dash"/>
          </a:ln>
        </p:spPr>
      </p:sp>
      <p:sp>
        <p:nvSpPr>
          <p:cNvPr id="244" name="Text 242"/>
          <p:cNvSpPr txBox="1"/>
          <p:nvPr/>
        </p:nvSpPr>
        <p:spPr>
          <a:xfrm>
            <a:off x="8503920" y="61996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 authoring &amp; live-parallel  ·  navy border = AEGIS  ·  green flag = volume [placeholder]</a:t>
            </a:r>
            <a:endParaRPr lang="en-US" sz="6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Process Flow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/ Features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257800" y="493776"/>
            <a:ext cx="3566160" cy="0"/>
          </a:xfrm>
          <a:prstGeom prst="line">
            <a:avLst/>
          </a:prstGeom>
          <a:noFill/>
          <a:ln w="12700">
            <a:solidFill>
              <a:srgbClr val="5A6B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0" y="493776"/>
            <a:ext cx="0" cy="82296"/>
          </a:xfrm>
          <a:prstGeom prst="line">
            <a:avLst/>
          </a:prstGeom>
          <a:noFill/>
          <a:ln w="12700">
            <a:solidFill>
              <a:srgbClr val="5A6B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23960" y="493776"/>
            <a:ext cx="0" cy="82296"/>
          </a:xfrm>
          <a:prstGeom prst="line">
            <a:avLst/>
          </a:prstGeom>
          <a:noFill/>
          <a:ln w="12700">
            <a:solidFill>
              <a:srgbClr val="5A6B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2148840"/>
            <a:ext cx="146304" cy="14630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313432"/>
            <a:ext cx="329184" cy="210312"/>
          </a:xfrm>
          <a:prstGeom prst="roundRect">
            <a:avLst>
              <a:gd name="adj" fmla="val 15217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" y="26060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Ops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05840" y="804672"/>
            <a:ext cx="132588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0704" y="841248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/ Sources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23160" y="804672"/>
            <a:ext cx="123444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8024" y="84124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49040" y="804672"/>
            <a:ext cx="1463040" cy="384048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03904" y="8412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03520" y="804672"/>
            <a:ext cx="1234440" cy="3840480"/>
          </a:xfrm>
          <a:prstGeom prst="rect">
            <a:avLst/>
          </a:prstGeom>
          <a:solidFill>
            <a:srgbClr val="FBF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58384" y="84124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Execution Plan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(pre-determined)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29400" y="804672"/>
            <a:ext cx="1554480" cy="384048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84264" y="8412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Processing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75320" y="804672"/>
            <a:ext cx="1463040" cy="384048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30184" y="8412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Response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921240" y="804672"/>
            <a:ext cx="1828800" cy="3840480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9976104" y="8412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/ FUTURE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00200" y="530352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00200" y="530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89120" y="530352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89120" y="530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530352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0" y="530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915400" y="530352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15400" y="530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97280" y="1188720"/>
            <a:ext cx="2743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3000" y="1271016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3000" y="1344168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43000" y="1417320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444752" y="1188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(VM Ops)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060704" y="1600200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0704" y="160020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~500/mo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97280" y="1965960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" y="2075688"/>
            <a:ext cx="100584" cy="10058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444752" y="19385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→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Artifactory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60704" y="2395728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60704" y="239572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~N/day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188720" y="2743200"/>
            <a:ext cx="146304" cy="14630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0" y="2907792"/>
            <a:ext cx="329184" cy="210312"/>
          </a:xfrm>
          <a:prstGeom prst="roundRect">
            <a:avLst>
              <a:gd name="adj" fmla="val 15217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444752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VDI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60704" y="3182112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60704" y="31821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~K live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496312" y="1188720"/>
            <a:ext cx="10881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532888" y="118872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(CTC)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request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496312" y="1938528"/>
            <a:ext cx="10881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532888" y="1938528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Portico → Kestra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sweep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496312" y="2743200"/>
            <a:ext cx="10881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532888" y="274320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ADFS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→ FID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840480" y="1115568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D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3913632" y="1188720"/>
            <a:ext cx="113385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950208" y="118872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(contract)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822192" y="128016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81628" y="133959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913632" y="1627632"/>
            <a:ext cx="113385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950208" y="162763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router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CVE/JVE → case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822192" y="171907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81628" y="177850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913632" y="2240280"/>
            <a:ext cx="113385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950208" y="2240280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start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four-eyes approval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877056" y="2130552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831336" y="2221992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023360" y="2148840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023360" y="2148840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913632" y="2788920"/>
            <a:ext cx="113385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950208" y="278892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check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scope bind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822192" y="288036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881628" y="293979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394960" y="1691640"/>
            <a:ext cx="1051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431536" y="1691640"/>
            <a:ext cx="978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· class · rate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720840" y="1188720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757416" y="118872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isolated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(FID)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629400" y="129844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688836" y="135788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75120" y="1691640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D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6748272" y="1764792"/>
            <a:ext cx="122529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784848" y="176479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plan·act·observe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656832" y="185623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16268" y="191566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48272" y="2194560"/>
            <a:ext cx="122529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784848" y="21945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every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748272" y="2615184"/>
            <a:ext cx="122529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784848" y="2615184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re-prove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748272" y="3127248"/>
            <a:ext cx="12252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784848" y="31272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steering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6711696" y="3017520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665976" y="3108960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58000" y="3035808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858000" y="3035808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6748272" y="3602736"/>
            <a:ext cx="12252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784848" y="3602736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sign-off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711696" y="3493008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665976" y="3584448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3511296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858000" y="351129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8339328" y="1188720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8375904" y="1188720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ExploitabilityResult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8247888" y="129844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307324" y="135788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339328" y="1737360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8375904" y="1737360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→ Cosmos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8247888" y="184708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307324" y="190652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339328" y="2286000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8375904" y="2286000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audit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(write-once)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8247888" y="239572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307324" y="245516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339328" y="2834640"/>
            <a:ext cx="1325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375904" y="283464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8302752" y="2724912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257032" y="2816352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449056" y="2743200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8449056" y="2743200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10012680" y="1188720"/>
            <a:ext cx="16459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20" name="Text 118"/>
          <p:cNvSpPr txBox="1"/>
          <p:nvPr/>
        </p:nvSpPr>
        <p:spPr>
          <a:xfrm>
            <a:off x="10049256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segmentation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(preferred fix)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012680" y="1645920"/>
            <a:ext cx="1645920" cy="42062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22" name="Text 120"/>
          <p:cNvSpPr txBox="1"/>
          <p:nvPr/>
        </p:nvSpPr>
        <p:spPr>
          <a:xfrm>
            <a:off x="10049256" y="164592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TWIN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if not segmented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0012680" y="2139696"/>
            <a:ext cx="16459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24" name="Text 122"/>
          <p:cNvSpPr txBox="1"/>
          <p:nvPr/>
        </p:nvSpPr>
        <p:spPr>
          <a:xfrm>
            <a:off x="10049256" y="213969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to Bedrock Mantle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10012680" y="2596896"/>
            <a:ext cx="16459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26" name="Text 124"/>
          <p:cNvSpPr txBox="1"/>
          <p:nvPr/>
        </p:nvSpPr>
        <p:spPr>
          <a:xfrm>
            <a:off x="10049256" y="259689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G34 / G35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&amp; promotion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10012680" y="3054096"/>
            <a:ext cx="16459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28" name="Text 126"/>
          <p:cNvSpPr txBox="1"/>
          <p:nvPr/>
        </p:nvSpPr>
        <p:spPr>
          <a:xfrm>
            <a:off x="10049256" y="305409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Plexus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power-user workflows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10012680" y="3511296"/>
            <a:ext cx="1645920" cy="42062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30" name="Text 128"/>
          <p:cNvSpPr txBox="1"/>
          <p:nvPr/>
        </p:nvSpPr>
        <p:spPr>
          <a:xfrm>
            <a:off x="10049256" y="3511296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path →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Mobius / VM Risk Score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11841480" y="1325880"/>
            <a:ext cx="347472" cy="12801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841480" y="1490472"/>
            <a:ext cx="155448" cy="12801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2033504" y="1490472"/>
            <a:ext cx="155448" cy="12801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11722608" y="169164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Risk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680" dirty="0"/>
          </a:p>
        </p:txBody>
      </p:sp>
      <p:sp>
        <p:nvSpPr>
          <p:cNvPr id="135" name="Shape 133"/>
          <p:cNvSpPr/>
          <p:nvPr/>
        </p:nvSpPr>
        <p:spPr>
          <a:xfrm>
            <a:off x="786384" y="221284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350008" y="129844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350008" y="2048256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602736" y="129844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602736" y="2048256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138928" y="1993392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64808" y="1993392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065008" y="1993392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710928" y="1993392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74320" y="484632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36576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393192" y="5120640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393192" y="5120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148" name="Text 146"/>
          <p:cNvSpPr txBox="1"/>
          <p:nvPr/>
        </p:nvSpPr>
        <p:spPr>
          <a:xfrm>
            <a:off x="1005840" y="51114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484632" y="5330952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38912" y="5422392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1005840" y="5349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tasks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411480" y="559612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70916" y="565556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1005840" y="55961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tasks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402336" y="5833872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56" name="Text 154"/>
          <p:cNvSpPr txBox="1"/>
          <p:nvPr/>
        </p:nvSpPr>
        <p:spPr>
          <a:xfrm>
            <a:off x="1005840" y="58155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/ future</a:t>
            </a:r>
            <a:endParaRPr lang="en-US" sz="800" dirty="0"/>
          </a:p>
        </p:txBody>
      </p:sp>
      <p:sp>
        <p:nvSpPr>
          <p:cNvPr id="157" name="Text 155"/>
          <p:cNvSpPr txBox="1"/>
          <p:nvPr/>
        </p:nvSpPr>
        <p:spPr>
          <a:xfrm>
            <a:off x="2697480" y="502920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collapses to three control points — start approval, live steering, review &amp; sign-off.   Long-term items are shown in the grey lane (not built now).   Volumes are placeholders.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System Context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→ Foundation → sandbox → targets → records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51560" y="1024128"/>
            <a:ext cx="1545336" cy="3703320"/>
          </a:xfrm>
          <a:prstGeom prst="rect">
            <a:avLst/>
          </a:prstGeom>
          <a:solidFill>
            <a:srgbClr val="F3EE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" y="106070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Requesters / Sources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0" y="1024128"/>
            <a:ext cx="1636776" cy="370332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15184" y="1060704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(CTC)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60520" y="1024128"/>
            <a:ext cx="1956816" cy="370332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15384" y="106070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Sandbox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80760" y="1024128"/>
            <a:ext cx="1682496" cy="3703320"/>
          </a:xfrm>
          <a:prstGeom prst="rect">
            <a:avLst/>
          </a:prstGeom>
          <a:solidFill>
            <a:srgbClr val="FBEE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35624" y="106070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(RoE-bound)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726680" y="1024128"/>
            <a:ext cx="1728216" cy="370332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81544" y="106070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Models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18320" y="1024128"/>
            <a:ext cx="2459736" cy="3703320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9473184" y="1060704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/ FUTURE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916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916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0040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8348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43000" y="1517904"/>
            <a:ext cx="2743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1600200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1673352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1746504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81328" y="1389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(VM Ops)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097280" y="1947672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97280" y="194767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~500/mo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43000" y="2359152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1872" y="2468880"/>
            <a:ext cx="100584" cy="10058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36192" y="22128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→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Artifactory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97280" y="2798064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97280" y="27980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~N/day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234440" y="3182112"/>
            <a:ext cx="146304" cy="14630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3346704"/>
            <a:ext cx="329184" cy="210312"/>
          </a:xfrm>
          <a:prstGeom prst="roundRect">
            <a:avLst>
              <a:gd name="adj" fmla="val 15217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481328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VDI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97280" y="3621024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97280" y="36210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~K live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651760" y="1517904"/>
            <a:ext cx="145389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688336" y="1517904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(CTC)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headless request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560320" y="163677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19756" y="169621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51760" y="2066544"/>
            <a:ext cx="145389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688336" y="2066544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Portico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560320" y="217627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19756" y="223570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51760" y="2578608"/>
            <a:ext cx="145389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688336" y="2578608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560320" y="268833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19756" y="274777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51760" y="3182112"/>
            <a:ext cx="145389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688336" y="3182112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ADFS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→ FID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560320" y="329184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19756" y="335127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79392" y="1627632"/>
            <a:ext cx="1728216" cy="640080"/>
          </a:xfrm>
          <a:prstGeom prst="rect">
            <a:avLst/>
          </a:prstGeom>
          <a:solidFill>
            <a:srgbClr val="1E2761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315968" y="1627632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SANDBOX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pentesting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279392" y="2404872"/>
            <a:ext cx="17282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315968" y="240487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mode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187952" y="249631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47388" y="255574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79392" y="2862072"/>
            <a:ext cx="17282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315968" y="2862072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CyberOps-driven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242816" y="2752344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97096" y="2843784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389120" y="2770632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389120" y="2770632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279392" y="3383280"/>
            <a:ext cx="17282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315968" y="338328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gateway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door · scope + rate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187952" y="347472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47388" y="353415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72200" y="1627632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208776" y="162763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172200" y="2048256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208776" y="204825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UAT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172200" y="2468880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208776" y="246888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— read-class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172200" y="2953512"/>
            <a:ext cx="1499616" cy="658368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208776" y="2953512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dev/test/UAT share PROD's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 — near-term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egress-gateway = interim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818120" y="1627632"/>
            <a:ext cx="15453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854696" y="1627632"/>
            <a:ext cx="1472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audit · findings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726680" y="174650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86116" y="18059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818120" y="2157984"/>
            <a:ext cx="154533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854696" y="2157984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Postgres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 lease / state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726680" y="225856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86116" y="231800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818120" y="2651760"/>
            <a:ext cx="154533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854696" y="265176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Mantle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models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7726680" y="275234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786116" y="281178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138160" y="3182112"/>
            <a:ext cx="347472" cy="12801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138160" y="3346704"/>
            <a:ext cx="155448" cy="12801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330184" y="3346704"/>
            <a:ext cx="155448" cy="12801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818120" y="34198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Risk Score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(consumer)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9528048" y="1371600"/>
            <a:ext cx="21031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98" name="Text 96"/>
          <p:cNvSpPr txBox="1"/>
          <p:nvPr/>
        </p:nvSpPr>
        <p:spPr>
          <a:xfrm>
            <a:off x="9564624" y="13716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segmentation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(preferred fix)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9528048" y="1828800"/>
            <a:ext cx="21031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00" name="Text 98"/>
          <p:cNvSpPr txBox="1"/>
          <p:nvPr/>
        </p:nvSpPr>
        <p:spPr>
          <a:xfrm>
            <a:off x="9564624" y="18288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TWIN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if not segmented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9528048" y="2286000"/>
            <a:ext cx="21031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02" name="Text 100"/>
          <p:cNvSpPr txBox="1"/>
          <p:nvPr/>
        </p:nvSpPr>
        <p:spPr>
          <a:xfrm>
            <a:off x="9564624" y="22860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to Bedrock Mantle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9528048" y="2743200"/>
            <a:ext cx="21031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04" name="Text 102"/>
          <p:cNvSpPr txBox="1"/>
          <p:nvPr/>
        </p:nvSpPr>
        <p:spPr>
          <a:xfrm>
            <a:off x="9564624" y="27432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G34 / G35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&amp; promotion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9528048" y="3200400"/>
            <a:ext cx="21031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06" name="Text 104"/>
          <p:cNvSpPr txBox="1"/>
          <p:nvPr/>
        </p:nvSpPr>
        <p:spPr>
          <a:xfrm>
            <a:off x="9564624" y="32004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Plexus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power-user workflows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9528048" y="3657600"/>
            <a:ext cx="21031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08" name="Text 106"/>
          <p:cNvSpPr txBox="1"/>
          <p:nvPr/>
        </p:nvSpPr>
        <p:spPr>
          <a:xfrm>
            <a:off x="9564624" y="36576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path →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Mobius / VM Risk Score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487168" y="141732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087368" y="155448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916168" y="173736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562088" y="173736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253728" y="173736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74320" y="480060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93192" y="5074920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393192" y="50749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118" name="Text 116"/>
          <p:cNvSpPr txBox="1"/>
          <p:nvPr/>
        </p:nvSpPr>
        <p:spPr>
          <a:xfrm>
            <a:off x="1005840" y="5065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84632" y="5349240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38912" y="5440680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1005840" y="53218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human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11480" y="558698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0916" y="564642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1005840" y="5577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402336" y="5861304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26" name="Text 124"/>
          <p:cNvSpPr txBox="1"/>
          <p:nvPr/>
        </p:nvSpPr>
        <p:spPr>
          <a:xfrm>
            <a:off x="1005840" y="5833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/ future</a:t>
            </a:r>
            <a:endParaRPr lang="en-US" sz="800" dirty="0"/>
          </a:p>
        </p:txBody>
      </p:sp>
      <p:sp>
        <p:nvSpPr>
          <p:cNvPr id="127" name="Text 125"/>
          <p:cNvSpPr txBox="1"/>
          <p:nvPr/>
        </p:nvSpPr>
        <p:spPr>
          <a:xfrm>
            <a:off x="2697480" y="498348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 only: headless (automated) and interactive (human-driven). No break-glass. Response path to Mobius / VM Risk Score is deferred to long-term.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Containers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units · technology · one-door egress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51560" y="1024128"/>
            <a:ext cx="1545336" cy="3703320"/>
          </a:xfrm>
          <a:prstGeom prst="rect">
            <a:avLst/>
          </a:prstGeom>
          <a:solidFill>
            <a:srgbClr val="F3EE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" y="106070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0" y="1024128"/>
            <a:ext cx="1728216" cy="370332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15184" y="106070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(AEGIS-owned)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251960" y="1024128"/>
            <a:ext cx="2093976" cy="3703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06824" y="1060704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09360" y="1024128"/>
            <a:ext cx="2139696" cy="3703320"/>
          </a:xfrm>
          <a:prstGeom prst="rect">
            <a:avLst/>
          </a:prstGeom>
          <a:solidFill>
            <a:srgbClr val="FBF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06070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isolated task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412480" y="1024128"/>
            <a:ext cx="1545336" cy="3703320"/>
          </a:xfrm>
          <a:prstGeom prst="rect">
            <a:avLst/>
          </a:prstGeom>
          <a:solidFill>
            <a:srgbClr val="FBEE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67344" y="106070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921240" y="1024128"/>
            <a:ext cx="1956816" cy="370332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76104" y="106070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stores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916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916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663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6636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237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43000" y="1536192"/>
            <a:ext cx="2743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1618488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1691640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1764792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81328" y="14081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(CTC)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Portico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234440" y="2130552"/>
            <a:ext cx="146304" cy="14630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2295144"/>
            <a:ext cx="329184" cy="210312"/>
          </a:xfrm>
          <a:prstGeom prst="roundRect">
            <a:avLst>
              <a:gd name="adj" fmla="val 15217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81328" y="20025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143000" y="2724912"/>
            <a:ext cx="384048" cy="274320"/>
          </a:xfrm>
          <a:prstGeom prst="cloud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91056" y="25786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ADFS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→ SID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651760" y="1536192"/>
            <a:ext cx="1545336" cy="457200"/>
          </a:xfrm>
          <a:prstGeom prst="rect">
            <a:avLst/>
          </a:prstGeom>
          <a:solidFill>
            <a:srgbClr val="1E2761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88336" y="1536192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aegis-api (Console API)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REST / SSE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651760" y="2103120"/>
            <a:ext cx="15453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688336" y="2103120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handler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560320" y="221284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19756" y="227228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51760" y="2633472"/>
            <a:ext cx="15453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88336" y="2633472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binder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→ FID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560320" y="274320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19756" y="28026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43400" y="1362456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D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4416552" y="1435608"/>
            <a:ext cx="176479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53128" y="143560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— case router · sweeps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4416552" y="1737360"/>
            <a:ext cx="176479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453128" y="173736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engagement-operator — RunTask · teardown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4416552" y="2039112"/>
            <a:ext cx="1764792" cy="265176"/>
          </a:xfrm>
          <a:prstGeom prst="rect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453128" y="2039112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— authorize every action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4416552" y="2340864"/>
            <a:ext cx="176479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453128" y="2340864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lease-controller — dead-man's switch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4416552" y="2642616"/>
            <a:ext cx="176479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453128" y="2642616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cred-vendor · coordinator — creds · rate + collision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4416552" y="2944368"/>
            <a:ext cx="176479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453128" y="294436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· model-port — re-prove · Mantle access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4416552" y="3246120"/>
            <a:ext cx="176479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453128" y="324612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evidence-audit — WORM → Cosmos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6400800" y="1362456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791F"/>
            </a:solidFill>
            <a:prstDash val="dash"/>
          </a:ln>
        </p:spPr>
      </p:sp>
      <p:sp>
        <p:nvSpPr>
          <p:cNvPr id="60" name="Text 58"/>
          <p:cNvSpPr txBox="1"/>
          <p:nvPr/>
        </p:nvSpPr>
        <p:spPr>
          <a:xfrm>
            <a:off x="6446520" y="1389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base image · Fargate/gVisor OR udocker · FID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6473952" y="1737360"/>
            <a:ext cx="18105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510528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runtime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/ scheduled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382512" y="183794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41948" y="189738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73952" y="2194560"/>
            <a:ext cx="18105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510528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runtime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 · design later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437376" y="2084832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91656" y="2176272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83680" y="2103120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583680" y="2103120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400800" y="2999232"/>
            <a:ext cx="1956816" cy="402336"/>
          </a:xfrm>
          <a:prstGeom prst="rect">
            <a:avLst/>
          </a:prstGeom>
          <a:solidFill>
            <a:srgbClr val="1E2761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437376" y="2999232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egress-gateway — ONE door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+ rate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503920" y="1627632"/>
            <a:ext cx="136245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540496" y="1627632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8503920" y="2048256"/>
            <a:ext cx="136245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540496" y="2048256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UAT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503920" y="2468880"/>
            <a:ext cx="136245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540496" y="2468880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— read-class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0012680" y="1627632"/>
            <a:ext cx="17739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049256" y="162763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(Iceberg)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evidence · audit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9921240" y="174650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980676" y="18059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012680" y="2139696"/>
            <a:ext cx="1773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049256" y="2139696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Postgres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 lease / state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9921240" y="224942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980676" y="230886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012680" y="2633472"/>
            <a:ext cx="1773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049256" y="263347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Mantle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models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9921240" y="274320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980676" y="28026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012680" y="3182112"/>
            <a:ext cx="1773936" cy="402336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92" name="Text 90"/>
          <p:cNvSpPr txBox="1"/>
          <p:nvPr/>
        </p:nvSpPr>
        <p:spPr>
          <a:xfrm>
            <a:off x="10049256" y="318211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plug-in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487168" y="141732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087368" y="148132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44768" y="148132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247888" y="148132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848088" y="148132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4320" y="480060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84632" y="5093208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38912" y="5184648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005840" y="5065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human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11480" y="53309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0916" y="53903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005840" y="53218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02336" y="5605272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005840" y="5577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chokepoint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02336" y="5861304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09" name="Text 107"/>
          <p:cNvSpPr txBox="1"/>
          <p:nvPr/>
        </p:nvSpPr>
        <p:spPr>
          <a:xfrm>
            <a:off x="1005840" y="5833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/ future</a:t>
            </a:r>
            <a:endParaRPr lang="en-US" sz="800" dirty="0"/>
          </a:p>
        </p:txBody>
      </p:sp>
      <p:sp>
        <p:nvSpPr>
          <p:cNvPr id="110" name="Text 108"/>
          <p:cNvSpPr txBox="1"/>
          <p:nvPr/>
        </p:nvSpPr>
        <p:spPr>
          <a:xfrm>
            <a:off x="2697480" y="498348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API is AEGIS-owned (governance + identity live behind it). Foundation stores are reused — Cosmos (Iceberg) and Foundation Postgres — no new database.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Components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per-run agent runtime · the governed loop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94960" y="56692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runs once per action — governance is called every time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0" y="786384"/>
            <a:ext cx="5029200" cy="0"/>
          </a:xfrm>
          <a:prstGeom prst="line">
            <a:avLst/>
          </a:prstGeom>
          <a:noFill/>
          <a:ln w="12700">
            <a:solidFill>
              <a:srgbClr val="5A6B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786384"/>
            <a:ext cx="0" cy="82296"/>
          </a:xfrm>
          <a:prstGeom prst="line">
            <a:avLst/>
          </a:prstGeom>
          <a:noFill/>
          <a:ln w="12700">
            <a:solidFill>
              <a:srgbClr val="5A6B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786384"/>
            <a:ext cx="0" cy="82296"/>
          </a:xfrm>
          <a:prstGeom prst="line">
            <a:avLst/>
          </a:prstGeom>
          <a:noFill/>
          <a:ln w="12700">
            <a:solidFill>
              <a:srgbClr val="5A6B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024128"/>
            <a:ext cx="1463040" cy="3154680"/>
          </a:xfrm>
          <a:prstGeom prst="rect">
            <a:avLst/>
          </a:prstGeom>
          <a:solidFill>
            <a:srgbClr val="F3EE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06424" y="10607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inputs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024128"/>
            <a:ext cx="1828800" cy="315468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60904" y="10607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components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26280" y="1024128"/>
            <a:ext cx="3246120" cy="315468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1144" y="10607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loop (per action)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863840" y="1024128"/>
            <a:ext cx="1691640" cy="3154680"/>
          </a:xfrm>
          <a:prstGeom prst="rect">
            <a:avLst/>
          </a:prstGeom>
          <a:solidFill>
            <a:srgbClr val="FBF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18704" y="1060704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crossed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646920" y="1024128"/>
            <a:ext cx="2103120" cy="315468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01784" y="106070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916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916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953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43000" y="1325880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79576" y="13258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spec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CVE/JVE → case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51560" y="142646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0996" y="148590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1801368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79576" y="180136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+ scope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envelope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051560" y="19019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10996" y="19613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3000" y="2276856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79576" y="227685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creds (FID)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cred-vendor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51560" y="237744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0996" y="243687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43000" y="2752344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179576" y="2752344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dead-man's switch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51560" y="285292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0996" y="291236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7480" y="1325880"/>
            <a:ext cx="1645920" cy="347472"/>
          </a:xfrm>
          <a:prstGeom prst="rect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34056" y="1325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 — the loop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697480" y="1737360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734056" y="17373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router / spec loader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697480" y="2103120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734056" y="210312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 (observations)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697480" y="2468880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734056" y="24688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— allow-list per case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697480" y="2834640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734056" y="283464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model · governance · egress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3200400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734056" y="32004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validator · evidence · lease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010912" y="1316736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010912" y="1316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17720" y="1627632"/>
            <a:ext cx="10241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654296" y="162763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 next action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660136" y="1847088"/>
            <a:ext cx="182880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89904" y="1316736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089904" y="1316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696712" y="1627632"/>
            <a:ext cx="1024128" cy="566928"/>
          </a:xfrm>
          <a:prstGeom prst="rect">
            <a:avLst/>
          </a:prstGeom>
          <a:solidFill>
            <a:srgbClr val="1E2761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733288" y="162763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ALLOW / BLOCK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739128" y="1847088"/>
            <a:ext cx="182880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68896" y="1316736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168896" y="1316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775704" y="1627632"/>
            <a:ext cx="10241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812280" y="162763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 tool → egress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010912" y="2249424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010912" y="2249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617720" y="2560320"/>
            <a:ext cx="10241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654296" y="2560320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→ memory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660136" y="2779776"/>
            <a:ext cx="182880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89904" y="2249424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089904" y="2249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696712" y="2560320"/>
            <a:ext cx="10241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733288" y="2560320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control + differential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739128" y="2779776"/>
            <a:ext cx="182880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68896" y="2249424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168896" y="2249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775704" y="2560320"/>
            <a:ext cx="10241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812280" y="2560320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proposal only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7223760" y="2231136"/>
            <a:ext cx="137160" cy="237744"/>
          </a:xfrm>
          <a:prstGeom prst="down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617720" y="32004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to PLAN until budget or finding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955280" y="1325880"/>
            <a:ext cx="1508760" cy="365760"/>
          </a:xfrm>
          <a:prstGeom prst="rect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991856" y="132588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Governance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before every act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955280" y="1764792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991856" y="1764792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Tool allow-list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955280" y="2185416"/>
            <a:ext cx="1508760" cy="365760"/>
          </a:xfrm>
          <a:prstGeom prst="rect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991856" y="218541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Egress gateway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+ rate · one door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955280" y="2624328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991856" y="2624328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Lease alive?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abort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955280" y="3044952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991856" y="3044952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re-prove — refute by default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9738360" y="132588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9774936" y="13258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proposal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self-recorded)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9646920" y="141732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06356" y="147675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38360" y="1764792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9774936" y="17647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finding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rung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9646920" y="185623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706356" y="191566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738360" y="2203704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774936" y="220370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audit → Cosmos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9646920" y="229514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06356" y="235458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738360" y="2642616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9774936" y="264261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state → Foundation Postgres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9646920" y="273405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706356" y="279349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738360" y="3081528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9774936" y="308152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destroyed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gone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9646920" y="317296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706356" y="323240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450592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70832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708392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491472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74320" y="4343400"/>
            <a:ext cx="2286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365760" y="4389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411480" y="462686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70916" y="468630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1005840" y="46268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402336" y="4901184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1005840" y="4882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chokepoint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402336" y="5157216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1005840" y="51480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step</a:t>
            </a:r>
            <a:endParaRPr lang="en-US" sz="800" dirty="0"/>
          </a:p>
        </p:txBody>
      </p:sp>
      <p:sp>
        <p:nvSpPr>
          <p:cNvPr id="127" name="Text 125"/>
          <p:cNvSpPr txBox="1"/>
          <p:nvPr/>
        </p:nvSpPr>
        <p:spPr>
          <a:xfrm>
            <a:off x="2697480" y="452628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PROPOSES; the walls decide. If governance is unreachable the answer is BLOCK, never ALLOW (fail-closed). Same components serve baseline and interactive runs.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Sequence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headless run, step by step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207008" cy="347472"/>
          </a:xfrm>
          <a:prstGeom prst="rect">
            <a:avLst/>
          </a:prstGeom>
          <a:solidFill>
            <a:srgbClr val="F3EEFC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VINES / Foundation (CTC)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1014984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673352" y="960120"/>
            <a:ext cx="1207008" cy="347472"/>
          </a:xfrm>
          <a:prstGeom prst="rect">
            <a:avLst/>
          </a:prstGeom>
          <a:solidFill>
            <a:srgbClr val="E8F0FB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00784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276856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935224" y="960120"/>
            <a:ext cx="1207008" cy="347472"/>
          </a:xfrm>
          <a:prstGeom prst="rect">
            <a:avLst/>
          </a:prstGeom>
          <a:solidFill>
            <a:srgbClr val="E8F0FB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62656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538728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197096" y="960120"/>
            <a:ext cx="1207008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24528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Engagement-operator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800600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58968" y="960120"/>
            <a:ext cx="1207008" cy="347472"/>
          </a:xfrm>
          <a:prstGeom prst="rect">
            <a:avLst/>
          </a:prstGeom>
          <a:solidFill>
            <a:srgbClr val="FBF3D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0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task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062472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720840" y="960120"/>
            <a:ext cx="1207008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gateway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7324344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982712" y="960120"/>
            <a:ext cx="1207008" cy="347472"/>
          </a:xfrm>
          <a:prstGeom prst="rect">
            <a:avLst/>
          </a:prstGeom>
          <a:solidFill>
            <a:srgbClr val="FBEEEE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10144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8586216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244584" y="960120"/>
            <a:ext cx="1207008" cy="347472"/>
          </a:xfrm>
          <a:prstGeom prst="rect">
            <a:avLst/>
          </a:prstGeom>
          <a:solidFill>
            <a:srgbClr val="E8F2EA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72016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9848088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506456" y="960120"/>
            <a:ext cx="1207008" cy="347472"/>
          </a:xfrm>
          <a:prstGeom prst="rect">
            <a:avLst/>
          </a:prstGeom>
          <a:solidFill>
            <a:srgbClr val="E8F2EA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33888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11109960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809037" y="2377440"/>
            <a:ext cx="5804611" cy="1389888"/>
          </a:xfrm>
          <a:prstGeom prst="rect">
            <a:avLst/>
          </a:prstGeom>
          <a:solidFill>
            <a:srgbClr val="FFFBF2"/>
          </a:solidFill>
          <a:ln w="12700">
            <a:solidFill>
              <a:srgbClr val="B7791F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2872130" y="24048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- repeats per action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1014984" y="155448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1069848" y="138074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ExploitabilityRequest (via Portico)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2276856" y="182880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2331720" y="16550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authorize engagement  RoE, SID to FID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3538728" y="210312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3593592" y="19293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ALLOW  provision run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4800600" y="237744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4855464" y="22037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RunTask  fork base image, FID, lease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3538728" y="2651760"/>
            <a:ext cx="2523744" cy="0"/>
          </a:xfrm>
          <a:prstGeom prst="line">
            <a:avLst/>
          </a:prstGeom>
          <a:noFill/>
          <a:ln w="15240">
            <a:solidFill>
              <a:srgbClr val="B08A8A"/>
            </a:solidFill>
            <a:prstDash val="dash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3593592" y="247802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authorize(action)  every action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3538728" y="2926080"/>
            <a:ext cx="2523744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3593592" y="275234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ALLOW / BLOCK</a:t>
            </a:r>
            <a:endParaRPr lang="en-US" sz="660" dirty="0"/>
          </a:p>
        </p:txBody>
      </p:sp>
      <p:sp>
        <p:nvSpPr>
          <p:cNvPr id="45" name="Shape 43"/>
          <p:cNvSpPr/>
          <p:nvPr/>
        </p:nvSpPr>
        <p:spPr>
          <a:xfrm>
            <a:off x="6062472" y="320040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6117336" y="30266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allowed action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7324344" y="347472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7379208" y="33009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scoped request</a:t>
            </a:r>
            <a:endParaRPr lang="en-US" sz="660" dirty="0"/>
          </a:p>
        </p:txBody>
      </p:sp>
      <p:sp>
        <p:nvSpPr>
          <p:cNvPr id="49" name="Shape 47"/>
          <p:cNvSpPr/>
          <p:nvPr/>
        </p:nvSpPr>
        <p:spPr>
          <a:xfrm>
            <a:off x="6062472" y="3749040"/>
            <a:ext cx="2523744" cy="0"/>
          </a:xfrm>
          <a:prstGeom prst="line">
            <a:avLst/>
          </a:prstGeom>
          <a:noFill/>
          <a:ln w="15240">
            <a:solidFill>
              <a:srgbClr val="B08A8A"/>
            </a:solidFill>
            <a:prstDash val="dash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6117336" y="357530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response  observe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6062472" y="4023360"/>
            <a:ext cx="3785616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6117336" y="3849624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propose finding</a:t>
            </a:r>
            <a:endParaRPr lang="en-US" sz="660" dirty="0"/>
          </a:p>
        </p:txBody>
      </p:sp>
      <p:sp>
        <p:nvSpPr>
          <p:cNvPr id="53" name="Shape 51"/>
          <p:cNvSpPr/>
          <p:nvPr/>
        </p:nvSpPr>
        <p:spPr>
          <a:xfrm>
            <a:off x="9848088" y="429768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9902952" y="412394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validated finding + evidence</a:t>
            </a:r>
            <a:endParaRPr lang="en-US" sz="660" dirty="0"/>
          </a:p>
        </p:txBody>
      </p:sp>
      <p:sp>
        <p:nvSpPr>
          <p:cNvPr id="55" name="Shape 53"/>
          <p:cNvSpPr/>
          <p:nvPr/>
        </p:nvSpPr>
        <p:spPr>
          <a:xfrm>
            <a:off x="1014984" y="4572000"/>
            <a:ext cx="5047488" cy="0"/>
          </a:xfrm>
          <a:prstGeom prst="line">
            <a:avLst/>
          </a:prstGeom>
          <a:noFill/>
          <a:ln w="15240">
            <a:solidFill>
              <a:srgbClr val="B08A8A"/>
            </a:solidFill>
            <a:prstDash val="dash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1069848" y="4398264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ExploitabilityResult</a:t>
            </a:r>
            <a:endParaRPr lang="en-US" sz="660" dirty="0"/>
          </a:p>
        </p:txBody>
      </p:sp>
      <p:sp>
        <p:nvSpPr>
          <p:cNvPr id="57" name="Shape 55"/>
          <p:cNvSpPr/>
          <p:nvPr/>
        </p:nvSpPr>
        <p:spPr>
          <a:xfrm>
            <a:off x="274320" y="4572000"/>
            <a:ext cx="22860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65760" y="46177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11480" y="484632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916" y="490575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05840" y="48371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step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02336" y="5120640"/>
            <a:ext cx="1828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05840" y="50932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02336" y="5376672"/>
            <a:ext cx="1828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B08A8A"/>
            </a:solidFill>
            <a:prstDash val="dash"/>
          </a:ln>
        </p:spPr>
      </p:sp>
      <p:sp>
        <p:nvSpPr>
          <p:cNvPr id="65" name="Text 63"/>
          <p:cNvSpPr txBox="1"/>
          <p:nvPr/>
        </p:nvSpPr>
        <p:spPr>
          <a:xfrm>
            <a:off x="1005840" y="5349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2697480" y="475488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called on EVERY action inside the loop, not once per run. The task only proposes; the validator re-proves before anything is recorded.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Deployment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account · VPC tiers · where each piece runs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51560" y="1024128"/>
            <a:ext cx="1874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" y="1060704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tier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017520" y="1024128"/>
            <a:ext cx="2194560" cy="320040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72384" y="106070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tier (private → NAT)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0" y="1024128"/>
            <a:ext cx="2514600" cy="3200400"/>
          </a:xfrm>
          <a:prstGeom prst="rect">
            <a:avLst/>
          </a:prstGeom>
          <a:solidFill>
            <a:srgbClr val="FBF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58384" y="106070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tier — ISOLATED (no internet route)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909560" y="1024128"/>
            <a:ext cx="1828800" cy="320040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64424" y="10607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stores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829800" y="1024128"/>
            <a:ext cx="1920240" cy="3200400"/>
          </a:xfrm>
          <a:prstGeom prst="rect">
            <a:avLst/>
          </a:prstGeom>
          <a:solidFill>
            <a:srgbClr val="FBEE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84664" y="106070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account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2880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868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3000" y="1325880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79576" y="132588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WAF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entry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051560" y="142646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0996" y="148590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1801368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79576" y="1801368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(egress tier only)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51560" y="19019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0996" y="19613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1325880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45536" y="1325880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+ Fargate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control-plane services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17520" y="143560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76956" y="149504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1819656"/>
            <a:ext cx="2011680" cy="402336"/>
          </a:xfrm>
          <a:prstGeom prst="rect">
            <a:avLst/>
          </a:prstGeom>
          <a:solidFill>
            <a:srgbClr val="1E2761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45536" y="1819656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egress-gateway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door · scope + rate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08960" y="2313432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45536" y="231343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aegis-api (Console API)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241401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76956" y="247345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4960" y="1280160"/>
            <a:ext cx="2331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791F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5440680" y="13075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— one task per run · gVisor OR udocker · FID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468112" y="1554480"/>
            <a:ext cx="21854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504688" y="1554480"/>
            <a:ext cx="2112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runtime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376672" y="166420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36108" y="172364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68112" y="2212848"/>
            <a:ext cx="21854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504688" y="2212848"/>
            <a:ext cx="2112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runtime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431536" y="2103120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85816" y="2194560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77840" y="2121408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577840" y="2121408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394960" y="3017520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31536" y="301752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endpoints (PrivateLink)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Mantle · ECR · logs · STS · KMS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03520" y="311810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62956" y="31775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01000" y="132588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037576" y="132588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(Iceberg)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909560" y="143560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68996" y="149504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01000" y="181965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037576" y="181965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Postgres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 lease / state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909560" y="192024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68996" y="197967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01000" y="229514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037576" y="229514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Portico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909560" y="239572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68996" y="245516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21240" y="1325880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957816" y="13258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Mantle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PrivateLink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829800" y="142646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889236" y="148590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921240" y="1801368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957816" y="18013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test / UAT / prod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921240" y="2276856"/>
            <a:ext cx="173736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957816" y="227685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dev/test/UAT share PROD's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 — segmentation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near-term fix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9921240" y="2852928"/>
            <a:ext cx="173736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77" name="Text 75"/>
          <p:cNvSpPr txBox="1"/>
          <p:nvPr/>
        </p:nvSpPr>
        <p:spPr>
          <a:xfrm>
            <a:off x="9957816" y="28529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segmentation / Twin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85292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13892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4496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66520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4320" y="443484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6576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11480" y="470916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0916" y="476859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05840" y="47000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02336" y="4983480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05840" y="49560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chokepoint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02336" y="5239512"/>
            <a:ext cx="182880" cy="146304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05840" y="5212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target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" y="5495544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92" name="Text 90"/>
          <p:cNvSpPr txBox="1"/>
          <p:nvPr/>
        </p:nvSpPr>
        <p:spPr>
          <a:xfrm>
            <a:off x="1005840" y="5468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00" dirty="0"/>
          </a:p>
        </p:txBody>
      </p:sp>
      <p:sp>
        <p:nvSpPr>
          <p:cNvPr id="93" name="Text 91"/>
          <p:cNvSpPr txBox="1"/>
          <p:nvPr/>
        </p:nvSpPr>
        <p:spPr>
          <a:xfrm>
            <a:off x="2697480" y="461772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tier has NO internet route — the only path out is the egress gateway; AWS/Mantle is reached over PrivateLink.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Identity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(the person) → FID (the workload), attribution preserved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51560" y="1024128"/>
            <a:ext cx="1920240" cy="3200400"/>
          </a:xfrm>
          <a:prstGeom prst="rect">
            <a:avLst/>
          </a:prstGeom>
          <a:solidFill>
            <a:srgbClr val="F3EE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" y="106070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063240" y="1024128"/>
            <a:ext cx="2057400" cy="320040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18104" y="106070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identity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212080" y="1024128"/>
            <a:ext cx="219456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66944" y="106070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to the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98080" y="1024128"/>
            <a:ext cx="2103120" cy="3200400"/>
          </a:xfrm>
          <a:prstGeom prst="rect">
            <a:avLst/>
          </a:prstGeom>
          <a:solidFill>
            <a:srgbClr val="FBF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52944" y="106070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acts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92640" y="1024128"/>
            <a:ext cx="2057400" cy="320040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47504" y="106070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7452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776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1248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3000" y="1444752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79576" y="144475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Pentester on VDI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(interactive)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106424" y="1335024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704" y="1426464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2728" y="1353312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52728" y="1353312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143000" y="1993392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79576" y="199339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owner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(headless — named human)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106424" y="1883664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0704" y="1975104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2728" y="1901952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52728" y="1901952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43000" y="2560320"/>
            <a:ext cx="1737360" cy="457200"/>
          </a:xfrm>
          <a:prstGeom prst="rect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79576" y="25603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has ONE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person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154680" y="1325880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91256" y="1325880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ADFS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login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63240" y="143560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22676" y="149504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54680" y="1819656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191256" y="1819656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established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identity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63240" y="192938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22676" y="198882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54680" y="2313432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191256" y="2313432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API / intake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SID as on-behalf-of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063240" y="242316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22676" y="248259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03520" y="1325880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40096" y="1325880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engagement-operator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AssumeRole + session tags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212080" y="14447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71516" y="15041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03520" y="1837944"/>
            <a:ext cx="2011680" cy="457200"/>
          </a:xfrm>
          <a:prstGeom prst="rect">
            <a:avLst/>
          </a:prstGeom>
          <a:solidFill>
            <a:srgbClr val="1E2761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340096" y="183794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 human_sid +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engagement_id (transitive)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303520" y="2386584"/>
            <a:ext cx="2011680" cy="420624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340096" y="238658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SID → refused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(fail-closed)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589520" y="1325880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626096" y="132588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ID (FID)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run role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498080" y="14447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57516" y="15041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589520" y="1837944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626096" y="183794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acts AS the FID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SID as principal tag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498080" y="195681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57516" y="201625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89520" y="2350008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626096" y="235000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creds from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cred-vendor · short-lived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498080" y="246888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57516" y="252831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84080" y="1325880"/>
            <a:ext cx="1874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820656" y="1325880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= FID  +  human_sid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692640" y="14447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52076" y="15041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784080" y="1837944"/>
            <a:ext cx="1874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820656" y="1837944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audit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write-once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692640" y="195681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52076" y="201625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784080" y="2350008"/>
            <a:ext cx="1874520" cy="457200"/>
          </a:xfrm>
          <a:prstGeom prst="rect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820656" y="2350008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did this?" always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to a named person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89864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04748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3348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52804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4320" y="443484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6576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84632" y="4727448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38912" y="4818888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05840" y="47000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11480" y="496519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916" y="502462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005840" y="49560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02336" y="5239512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005840" y="5212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02336" y="5495544"/>
            <a:ext cx="182880" cy="146304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05840" y="5468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</a:t>
            </a:r>
            <a:endParaRPr lang="en-US" sz="800" dirty="0"/>
          </a:p>
        </p:txBody>
      </p:sp>
      <p:sp>
        <p:nvSpPr>
          <p:cNvPr id="94" name="Text 92"/>
          <p:cNvSpPr txBox="1"/>
          <p:nvPr/>
        </p:nvSpPr>
        <p:spPr>
          <a:xfrm>
            <a:off x="2697480" y="461772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workload runs as a functional ID, but the human SID rides along as a session tag — so both appear on every logged action.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Data flow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ephemeral, what is durable, what never travels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51560" y="1024128"/>
            <a:ext cx="1920240" cy="3200400"/>
          </a:xfrm>
          <a:prstGeom prst="rect">
            <a:avLst/>
          </a:prstGeom>
          <a:solidFill>
            <a:srgbClr val="F3EE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" y="106070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063240" y="1024128"/>
            <a:ext cx="2103120" cy="3200400"/>
          </a:xfrm>
          <a:prstGeom prst="rect">
            <a:avLst/>
          </a:prstGeom>
          <a:solidFill>
            <a:srgbClr val="FBF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18104" y="106070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(in the task)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257800" y="1024128"/>
            <a:ext cx="2194560" cy="320040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12664" y="106070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&amp; validation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543800" y="1024128"/>
            <a:ext cx="2148840" cy="320040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98664" y="106070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records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784080" y="1024128"/>
            <a:ext cx="1965960" cy="320040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38944" y="1060704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7452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776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582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820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3000" y="1325880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79576" y="132588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ExploitabilityRequest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/ JVE + target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051560" y="143560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0996" y="149504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1819656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79576" y="18196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+ scope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envelope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51560" y="192938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0996" y="198882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2313432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79576" y="231343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spec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051560" y="242316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10996" y="248259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54680" y="1325880"/>
            <a:ext cx="1920240" cy="420624"/>
          </a:xfrm>
          <a:prstGeom prst="rect">
            <a:avLst/>
          </a:prstGeom>
          <a:solidFill>
            <a:srgbClr val="FDF6E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91256" y="132588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timing · shape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54680" y="1837944"/>
            <a:ext cx="1920240" cy="420624"/>
          </a:xfrm>
          <a:prstGeom prst="rect">
            <a:avLst/>
          </a:prstGeom>
          <a:solidFill>
            <a:srgbClr val="FDF6E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91256" y="183794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destroyed with the task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154680" y="2377440"/>
            <a:ext cx="192024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191256" y="23774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sensitive bytes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the task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349240" y="1325880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385816" y="1325880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proposal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cannot self-record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257800" y="14447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17236" y="15041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49240" y="1837944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385816" y="183794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re-proves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control + differential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257800" y="195681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17236" y="201625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49240" y="2350008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85816" y="235000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rung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/ replica-proven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257800" y="246888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17236" y="252831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35240" y="1325880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671816" y="1325880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(Iceberg)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queryable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543800" y="14447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03236" y="15041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35240" y="1837944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671816" y="1837944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pointer only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543800" y="195681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03236" y="201625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35240" y="2350008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671816" y="235000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hash-linked, tamper-evident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543800" y="246888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03236" y="252831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875520" y="1325880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912096" y="13258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 + evidence ref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9784080" y="14447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843516" y="15041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875520" y="1920240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912096" y="192024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 review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sign-off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838944" y="1810512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93224" y="1901952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985248" y="1828800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985248" y="1828800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9875520" y="2468880"/>
            <a:ext cx="178308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75" name="Text 73"/>
          <p:cNvSpPr txBox="1"/>
          <p:nvPr/>
        </p:nvSpPr>
        <p:spPr>
          <a:xfrm>
            <a:off x="9912096" y="246888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path →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Mobius / VM Risk Score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89864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9320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37920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61948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4320" y="4434840"/>
            <a:ext cx="2286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6576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11480" y="470916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0916" y="476859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05840" y="47000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84632" y="4983480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8912" y="5074920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05840" y="49560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02336" y="5239512"/>
            <a:ext cx="182880" cy="146304"/>
          </a:xfrm>
          <a:prstGeom prst="rect">
            <a:avLst/>
          </a:prstGeom>
          <a:solidFill>
            <a:srgbClr val="FDF6E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005840" y="5212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02336" y="5495544"/>
            <a:ext cx="182880" cy="146304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005840" y="5468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travels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02336" y="5751576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93" name="Text 91"/>
          <p:cNvSpPr txBox="1"/>
          <p:nvPr/>
        </p:nvSpPr>
        <p:spPr>
          <a:xfrm>
            <a:off x="1005840" y="57241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00" dirty="0"/>
          </a:p>
        </p:txBody>
      </p:sp>
      <p:sp>
        <p:nvSpPr>
          <p:cNvPr id="94" name="Text 92"/>
          <p:cNvSpPr txBox="1"/>
          <p:nvPr/>
        </p:nvSpPr>
        <p:spPr>
          <a:xfrm>
            <a:off x="2697480" y="470916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throwaway; the record is not. Evidence is referenced by pointer — raw sensitive bytes never cross a boundary.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2026-09-18T00:41:30Z</dcterms:created>
  <dcterms:modified xsi:type="dcterms:W3CDTF">2026-09-18T00:41:30Z</dcterms:modified>
</cp:coreProperties>
</file>